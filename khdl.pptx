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650" r:id="rId3"/>
    <p:sldMasterId id="2147483651" r:id="rId4"/>
    <p:sldMasterId id="2147483652" r:id="rId5"/>
    <p:sldMasterId id="2147483653" r:id="rId6"/>
    <p:sldMasterId id="2147483654" r:id="rId7"/>
    <p:sldMasterId id="2147483655" r:id="rId8"/>
    <p:sldMasterId id="2147483656" r:id="rId9"/>
    <p:sldMasterId id="2147483657" r:id="rId10"/>
  </p:sldMasterIdLst>
  <p:notesMasterIdLst>
    <p:notesMasterId r:id="rId22"/>
  </p:notesMasterIdLst>
  <p:sldIdLst>
    <p:sldId id="257" r:id="rId11"/>
    <p:sldId id="267" r:id="rId12"/>
    <p:sldId id="258" r:id="rId13"/>
    <p:sldId id="259" r:id="rId14"/>
    <p:sldId id="260" r:id="rId15"/>
    <p:sldId id="261" r:id="rId16"/>
    <p:sldId id="262" r:id="rId17"/>
    <p:sldId id="263" r:id="rId18"/>
    <p:sldId id="266" r:id="rId19"/>
    <p:sldId id="264" r:id="rId20"/>
    <p:sldId id="26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presProps" Target="presProps.xml"/><Relationship Id="rId10" Type="http://schemas.openxmlformats.org/officeDocument/2006/relationships/slideMaster" Target="slideMasters/slideMaster10.xml"/><Relationship Id="rId19" Type="http://schemas.openxmlformats.org/officeDocument/2006/relationships/slide" Target="slides/slide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ĩ Bùi" userId="4f99b15c1edebc0f" providerId="LiveId" clId="{47699DD8-9B13-41E5-A050-BC265A859FAC}"/>
    <pc:docChg chg="undo custSel addSld delSld modSld">
      <pc:chgData name="Vĩ Bùi" userId="4f99b15c1edebc0f" providerId="LiveId" clId="{47699DD8-9B13-41E5-A050-BC265A859FAC}" dt="2026-03-27T13:59:30.931" v="1080"/>
      <pc:docMkLst>
        <pc:docMk/>
      </pc:docMkLst>
      <pc:sldChg chg="addSp delSp modSp mod">
        <pc:chgData name="Vĩ Bùi" userId="4f99b15c1edebc0f" providerId="LiveId" clId="{47699DD8-9B13-41E5-A050-BC265A859FAC}" dt="2026-03-27T13:55:52.604" v="1074" actId="20577"/>
        <pc:sldMkLst>
          <pc:docMk/>
          <pc:sldMk cId="3025044421" sldId="262"/>
        </pc:sldMkLst>
        <pc:spChg chg="add">
          <ac:chgData name="Vĩ Bùi" userId="4f99b15c1edebc0f" providerId="LiveId" clId="{47699DD8-9B13-41E5-A050-BC265A859FAC}" dt="2026-03-27T13:34:46.689" v="722"/>
          <ac:spMkLst>
            <pc:docMk/>
            <pc:sldMk cId="3025044421" sldId="262"/>
            <ac:spMk id="3" creationId="{71DF5606-F28F-B86B-6FB2-AC0E27291D49}"/>
          </ac:spMkLst>
        </pc:spChg>
        <pc:spChg chg="add mod">
          <ac:chgData name="Vĩ Bùi" userId="4f99b15c1edebc0f" providerId="LiveId" clId="{47699DD8-9B13-41E5-A050-BC265A859FAC}" dt="2026-03-27T13:34:49.194" v="724"/>
          <ac:spMkLst>
            <pc:docMk/>
            <pc:sldMk cId="3025044421" sldId="262"/>
            <ac:spMk id="4" creationId="{30831523-6324-68C6-8B25-55EF07C37BBC}"/>
          </ac:spMkLst>
        </pc:spChg>
        <pc:spChg chg="mod">
          <ac:chgData name="Vĩ Bùi" userId="4f99b15c1edebc0f" providerId="LiveId" clId="{47699DD8-9B13-41E5-A050-BC265A859FAC}" dt="2026-03-27T13:45:34.181" v="908" actId="1076"/>
          <ac:spMkLst>
            <pc:docMk/>
            <pc:sldMk cId="3025044421" sldId="262"/>
            <ac:spMk id="10" creationId="{5D8A0E0D-300C-7199-E96B-0DE46F796C34}"/>
          </ac:spMkLst>
        </pc:spChg>
        <pc:spChg chg="mod">
          <ac:chgData name="Vĩ Bùi" userId="4f99b15c1edebc0f" providerId="LiveId" clId="{47699DD8-9B13-41E5-A050-BC265A859FAC}" dt="2026-03-27T13:55:52.604" v="1074" actId="20577"/>
          <ac:spMkLst>
            <pc:docMk/>
            <pc:sldMk cId="3025044421" sldId="262"/>
            <ac:spMk id="14" creationId="{19ADF16E-0C81-E23E-02AD-D9CB0C1B9FE2}"/>
          </ac:spMkLst>
        </pc:spChg>
        <pc:spChg chg="mod">
          <ac:chgData name="Vĩ Bùi" userId="4f99b15c1edebc0f" providerId="LiveId" clId="{47699DD8-9B13-41E5-A050-BC265A859FAC}" dt="2026-03-27T13:45:46.531" v="909" actId="1076"/>
          <ac:spMkLst>
            <pc:docMk/>
            <pc:sldMk cId="3025044421" sldId="262"/>
            <ac:spMk id="15" creationId="{C3096186-9314-FB54-C994-50070463A78C}"/>
          </ac:spMkLst>
        </pc:spChg>
        <pc:picChg chg="add del mod">
          <ac:chgData name="Vĩ Bùi" userId="4f99b15c1edebc0f" providerId="LiveId" clId="{47699DD8-9B13-41E5-A050-BC265A859FAC}" dt="2026-03-27T13:37:01.584" v="727" actId="478"/>
          <ac:picMkLst>
            <pc:docMk/>
            <pc:sldMk cId="3025044421" sldId="262"/>
            <ac:picMk id="6" creationId="{1988EB86-A275-934C-8286-CCECAD76DC8E}"/>
          </ac:picMkLst>
        </pc:picChg>
        <pc:picChg chg="add del mod">
          <ac:chgData name="Vĩ Bùi" userId="4f99b15c1edebc0f" providerId="LiveId" clId="{47699DD8-9B13-41E5-A050-BC265A859FAC}" dt="2026-03-27T13:44:58.346" v="899" actId="478"/>
          <ac:picMkLst>
            <pc:docMk/>
            <pc:sldMk cId="3025044421" sldId="262"/>
            <ac:picMk id="8" creationId="{C8DC8CBF-A611-E262-C166-CA26458022E9}"/>
          </ac:picMkLst>
        </pc:picChg>
      </pc:sldChg>
      <pc:sldChg chg="addSp delSp modSp new del mod chgLayout">
        <pc:chgData name="Vĩ Bùi" userId="4f99b15c1edebc0f" providerId="LiveId" clId="{47699DD8-9B13-41E5-A050-BC265A859FAC}" dt="2026-03-26T14:36:34.929" v="50" actId="47"/>
        <pc:sldMkLst>
          <pc:docMk/>
          <pc:sldMk cId="1129373201" sldId="267"/>
        </pc:sldMkLst>
        <pc:spChg chg="del">
          <ac:chgData name="Vĩ Bùi" userId="4f99b15c1edebc0f" providerId="LiveId" clId="{47699DD8-9B13-41E5-A050-BC265A859FAC}" dt="2026-03-26T14:35:17.644" v="33" actId="6264"/>
          <ac:spMkLst>
            <pc:docMk/>
            <pc:sldMk cId="1129373201" sldId="267"/>
            <ac:spMk id="2" creationId="{2ED36DD6-8D61-5AF3-4A19-D90457970C53}"/>
          </ac:spMkLst>
        </pc:spChg>
        <pc:spChg chg="del">
          <ac:chgData name="Vĩ Bùi" userId="4f99b15c1edebc0f" providerId="LiveId" clId="{47699DD8-9B13-41E5-A050-BC265A859FAC}" dt="2026-03-26T14:35:17.644" v="33" actId="6264"/>
          <ac:spMkLst>
            <pc:docMk/>
            <pc:sldMk cId="1129373201" sldId="267"/>
            <ac:spMk id="3" creationId="{E9199662-2AC7-1D8C-DAFF-9E7388992A4F}"/>
          </ac:spMkLst>
        </pc:spChg>
        <pc:spChg chg="del">
          <ac:chgData name="Vĩ Bùi" userId="4f99b15c1edebc0f" providerId="LiveId" clId="{47699DD8-9B13-41E5-A050-BC265A859FAC}" dt="2026-03-26T14:35:17.644" v="33" actId="6264"/>
          <ac:spMkLst>
            <pc:docMk/>
            <pc:sldMk cId="1129373201" sldId="267"/>
            <ac:spMk id="4" creationId="{4B553853-6135-5780-7759-625292943C78}"/>
          </ac:spMkLst>
        </pc:spChg>
        <pc:spChg chg="add mod ord">
          <ac:chgData name="Vĩ Bùi" userId="4f99b15c1edebc0f" providerId="LiveId" clId="{47699DD8-9B13-41E5-A050-BC265A859FAC}" dt="2026-03-26T14:35:17.644" v="33" actId="6264"/>
          <ac:spMkLst>
            <pc:docMk/>
            <pc:sldMk cId="1129373201" sldId="267"/>
            <ac:spMk id="5" creationId="{A4494D79-597F-7BEE-4370-5F393AE585EE}"/>
          </ac:spMkLst>
        </pc:spChg>
        <pc:spChg chg="add mod ord">
          <ac:chgData name="Vĩ Bùi" userId="4f99b15c1edebc0f" providerId="LiveId" clId="{47699DD8-9B13-41E5-A050-BC265A859FAC}" dt="2026-03-26T14:35:17.644" v="33" actId="6264"/>
          <ac:spMkLst>
            <pc:docMk/>
            <pc:sldMk cId="1129373201" sldId="267"/>
            <ac:spMk id="6" creationId="{7EF0D4A6-E833-CA39-AF32-A9F96D260B04}"/>
          </ac:spMkLst>
        </pc:spChg>
        <pc:spChg chg="add mod ord">
          <ac:chgData name="Vĩ Bùi" userId="4f99b15c1edebc0f" providerId="LiveId" clId="{47699DD8-9B13-41E5-A050-BC265A859FAC}" dt="2026-03-26T14:35:17.644" v="33" actId="6264"/>
          <ac:spMkLst>
            <pc:docMk/>
            <pc:sldMk cId="1129373201" sldId="267"/>
            <ac:spMk id="7" creationId="{8446C032-30E9-636E-42FA-4232C759C531}"/>
          </ac:spMkLst>
        </pc:spChg>
        <pc:graphicFrameChg chg="add mod modGraphic">
          <ac:chgData name="Vĩ Bùi" userId="4f99b15c1edebc0f" providerId="LiveId" clId="{47699DD8-9B13-41E5-A050-BC265A859FAC}" dt="2026-03-26T14:36:20.107" v="49" actId="14100"/>
          <ac:graphicFrameMkLst>
            <pc:docMk/>
            <pc:sldMk cId="1129373201" sldId="267"/>
            <ac:graphicFrameMk id="8" creationId="{DFB48A3B-2212-2B11-2792-918BE9452AA8}"/>
          </ac:graphicFrameMkLst>
        </pc:graphicFrameChg>
      </pc:sldChg>
      <pc:sldChg chg="addSp delSp modSp new mod">
        <pc:chgData name="Vĩ Bùi" userId="4f99b15c1edebc0f" providerId="LiveId" clId="{47699DD8-9B13-41E5-A050-BC265A859FAC}" dt="2026-03-27T13:59:30.931" v="1080"/>
        <pc:sldMkLst>
          <pc:docMk/>
          <pc:sldMk cId="2795300404" sldId="267"/>
        </pc:sldMkLst>
        <pc:graphicFrameChg chg="add del modGraphic">
          <ac:chgData name="Vĩ Bùi" userId="4f99b15c1edebc0f" providerId="LiveId" clId="{47699DD8-9B13-41E5-A050-BC265A859FAC}" dt="2026-03-26T14:38:02.074" v="57" actId="478"/>
          <ac:graphicFrameMkLst>
            <pc:docMk/>
            <pc:sldMk cId="2795300404" sldId="267"/>
            <ac:graphicFrameMk id="2" creationId="{0A35A01D-5CC7-0B63-81F1-2956275A89B2}"/>
          </ac:graphicFrameMkLst>
        </pc:graphicFrameChg>
        <pc:graphicFrameChg chg="add del mod modGraphic">
          <ac:chgData name="Vĩ Bùi" userId="4f99b15c1edebc0f" providerId="LiveId" clId="{47699DD8-9B13-41E5-A050-BC265A859FAC}" dt="2026-03-27T13:59:30.931" v="1080"/>
          <ac:graphicFrameMkLst>
            <pc:docMk/>
            <pc:sldMk cId="2795300404" sldId="267"/>
            <ac:graphicFrameMk id="3" creationId="{79FEFF9A-3920-5F80-47DD-45FD716CB63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4716BA-2F5F-4CB6-937D-304271306957}"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9673D-EDA3-4BC6-9732-D257FB71FFAD}" type="slidenum">
              <a:rPr lang="en-US" smtClean="0"/>
              <a:t>‹#›</a:t>
            </a:fld>
            <a:endParaRPr lang="en-US"/>
          </a:p>
        </p:txBody>
      </p:sp>
    </p:spTree>
    <p:extLst>
      <p:ext uri="{BB962C8B-B14F-4D97-AF65-F5344CB8AC3E}">
        <p14:creationId xmlns:p14="http://schemas.microsoft.com/office/powerpoint/2010/main" val="1054635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p:nvPr>
        </p:nvSpPr>
        <p:spPr/>
        <p:txBody>
          <a:bodyPr/>
          <a:lstStyle/>
          <a:p>
            <a:r>
              <a:t>Slide này trình bày nội dung chính của bài thuyết trình bao gồm các phần từ giới thiệu đề tài, lý do chọn đề tài, thu thập và xử lý dữ liệu, phương pháp mô hình hóa, logic tính toán tiền điện, kết quả dự báo, kết luận và hướng phát triển, cuối cùng là mẹo khi thuyết trình và demo GitHub. Giúp người nghe có cái nhìn tổng quan về cấu trúc bài thuyết trình.</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435A-55E9-8F45-6B58-154BCE0E87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2D9D54-B0FD-D8F1-5AED-BE03148162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0CF1CA-E295-9092-D96C-12B152A26FC5}"/>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5" name="Footer Placeholder 4">
            <a:extLst>
              <a:ext uri="{FF2B5EF4-FFF2-40B4-BE49-F238E27FC236}">
                <a16:creationId xmlns:a16="http://schemas.microsoft.com/office/drawing/2014/main" id="{EBBB803B-F6D5-EBBB-339F-B0EE74988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66EA5D-DD50-5B0F-2908-056C9C79F96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94538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147D3-7CAF-E778-127C-EB36EE0199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7DC2F3-E578-B9AA-C6E9-B0A937EC0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419A6-9272-0369-CA69-38A16213E0D3}"/>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5" name="Footer Placeholder 4">
            <a:extLst>
              <a:ext uri="{FF2B5EF4-FFF2-40B4-BE49-F238E27FC236}">
                <a16:creationId xmlns:a16="http://schemas.microsoft.com/office/drawing/2014/main" id="{AC0F883D-E45F-8FD1-1C08-CBC168F62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D75E8-ADB4-1A15-B148-0215629C8FAA}"/>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4162808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D8AE3-0B7F-0F6C-4161-246DB8362D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8EF875-DCDA-F2BD-42B8-C1F4FC4DB1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7DC1CB-7833-83F0-DE2F-30938632C8E5}"/>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5" name="Footer Placeholder 4">
            <a:extLst>
              <a:ext uri="{FF2B5EF4-FFF2-40B4-BE49-F238E27FC236}">
                <a16:creationId xmlns:a16="http://schemas.microsoft.com/office/drawing/2014/main" id="{A961E56F-F138-523E-9263-AF7EF65F37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F7168-660A-BFC1-02D4-C33094392E51}"/>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89184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ACE6F-B83F-D954-0F90-70679C8D3C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30B51D-0CF0-92B7-F6D3-C393B43110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27F6AF-5C3A-21C7-55A8-08543AD243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787AB9-B373-53AD-E2E0-2F397315ACA3}"/>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6" name="Footer Placeholder 5">
            <a:extLst>
              <a:ext uri="{FF2B5EF4-FFF2-40B4-BE49-F238E27FC236}">
                <a16:creationId xmlns:a16="http://schemas.microsoft.com/office/drawing/2014/main" id="{104ED33D-3DD9-4B35-7026-C858E4C7EB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B328C9-8311-F019-3DCC-ED2B5144723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500929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5146D-60B2-24B9-728D-604EB71730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43D396-51F7-49AB-3F99-B8270BD44D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AE1936-B0A4-38E1-34E5-9608DBAF76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D63416-005B-0785-25D5-11598D0A22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266390-113D-C0AA-498D-C06AAFACAF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BDD544-6E41-A9B2-F48B-9488D9AD9A13}"/>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8" name="Footer Placeholder 7">
            <a:extLst>
              <a:ext uri="{FF2B5EF4-FFF2-40B4-BE49-F238E27FC236}">
                <a16:creationId xmlns:a16="http://schemas.microsoft.com/office/drawing/2014/main" id="{176D1115-A07E-F5FE-4179-DE6AAA0973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DDC1AC-4A0D-C74A-ED55-8BCBE8A6166B}"/>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86566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C768-6826-AAD0-0395-E5F0DC0EFD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E8782D-E635-1CDC-B504-7A8C1D253E0A}"/>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4" name="Footer Placeholder 3">
            <a:extLst>
              <a:ext uri="{FF2B5EF4-FFF2-40B4-BE49-F238E27FC236}">
                <a16:creationId xmlns:a16="http://schemas.microsoft.com/office/drawing/2014/main" id="{93FE2719-64CE-837D-5896-60BAA0AA42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FBCE37-B62A-19D9-CCA9-F795E8BCCC64}"/>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1387656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C0F13-6A7B-BE98-9301-A6933B7A4173}"/>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3" name="Footer Placeholder 2">
            <a:extLst>
              <a:ext uri="{FF2B5EF4-FFF2-40B4-BE49-F238E27FC236}">
                <a16:creationId xmlns:a16="http://schemas.microsoft.com/office/drawing/2014/main" id="{4B127AEF-634A-5927-F71A-B4BDF7AC5A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5DE9C9-AFF4-F7BB-B26A-1735CA412E19}"/>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4286819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66F78-4764-A0EF-0ABB-8825EEE5C6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0D6607-296B-16B1-A7B5-BF8C3A5D6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A4EFEB-4F1D-EFAD-7BBB-1D5BA9893D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37C2D-1E88-8148-EBC2-4D4E6AAE02C0}"/>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6" name="Footer Placeholder 5">
            <a:extLst>
              <a:ext uri="{FF2B5EF4-FFF2-40B4-BE49-F238E27FC236}">
                <a16:creationId xmlns:a16="http://schemas.microsoft.com/office/drawing/2014/main" id="{2B43B8CF-2AE1-4D3C-96CE-0ED0DC4211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EC844-DDC6-5532-CE15-23547D424A4B}"/>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11009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569D-018A-1F56-4F95-61D35E24A1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157E67-1458-FE53-E579-B0D70DA1ED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216883-BF87-53E6-BA9E-896F51A84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8D87C0-A5FB-7F91-AB04-614FB4EB32BF}"/>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6" name="Footer Placeholder 5">
            <a:extLst>
              <a:ext uri="{FF2B5EF4-FFF2-40B4-BE49-F238E27FC236}">
                <a16:creationId xmlns:a16="http://schemas.microsoft.com/office/drawing/2014/main" id="{5ADD186C-44F9-0ACB-9952-89EBE7CAE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19DDEC-B32E-EE2E-392A-B955A0B7D980}"/>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824882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F38D4-802D-9DE8-F7C1-E58C0EF6D0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F4919A-F9BC-89EA-1B14-3AA84A1397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571C79-B3F1-FC81-D523-4328D481B24D}"/>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5" name="Footer Placeholder 4">
            <a:extLst>
              <a:ext uri="{FF2B5EF4-FFF2-40B4-BE49-F238E27FC236}">
                <a16:creationId xmlns:a16="http://schemas.microsoft.com/office/drawing/2014/main" id="{CE7E8E5F-375B-200E-FA6C-EC2BF7CEC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17DF49-6CAC-5060-029D-5E74D80D92F6}"/>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320200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BE04BC-C8D1-311C-73D9-DB39B45B9B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9820DD-03AF-F102-1ED0-097BF19B1E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3B428-4D1F-8E65-F47E-3B4940A03DAD}"/>
              </a:ext>
            </a:extLst>
          </p:cNvPr>
          <p:cNvSpPr>
            <a:spLocks noGrp="1"/>
          </p:cNvSpPr>
          <p:nvPr>
            <p:ph type="dt" sz="half" idx="10"/>
          </p:nvPr>
        </p:nvSpPr>
        <p:spPr/>
        <p:txBody>
          <a:bodyPr/>
          <a:lstStyle/>
          <a:p>
            <a:fld id="{DB1FAD44-F6D0-4C7C-8206-F45DB611304A}" type="datetimeFigureOut">
              <a:rPr lang="en-US" smtClean="0"/>
              <a:t>3/27/2026</a:t>
            </a:fld>
            <a:endParaRPr lang="en-US"/>
          </a:p>
        </p:txBody>
      </p:sp>
      <p:sp>
        <p:nvSpPr>
          <p:cNvPr id="5" name="Footer Placeholder 4">
            <a:extLst>
              <a:ext uri="{FF2B5EF4-FFF2-40B4-BE49-F238E27FC236}">
                <a16:creationId xmlns:a16="http://schemas.microsoft.com/office/drawing/2014/main" id="{A15ADFDB-290E-6A46-A0D5-AB6DE1E0C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FEBDC-38DC-4FB0-1370-1C24D47D3558}"/>
              </a:ext>
            </a:extLst>
          </p:cNvPr>
          <p:cNvSpPr>
            <a:spLocks noGrp="1"/>
          </p:cNvSpPr>
          <p:nvPr>
            <p:ph type="sldNum" sz="quarter" idx="12"/>
          </p:nvPr>
        </p:nvSpPr>
        <p:spPr/>
        <p:txBody>
          <a:bodyPr/>
          <a:lstStyle/>
          <a:p>
            <a:fld id="{9C4A734A-3B2A-47ED-9FBD-81CFB3E93756}" type="slidenum">
              <a:rPr lang="en-US" smtClean="0"/>
              <a:t>‹#›</a:t>
            </a:fld>
            <a:endParaRPr lang="en-US"/>
          </a:p>
        </p:txBody>
      </p:sp>
    </p:spTree>
    <p:extLst>
      <p:ext uri="{BB962C8B-B14F-4D97-AF65-F5344CB8AC3E}">
        <p14:creationId xmlns:p14="http://schemas.microsoft.com/office/powerpoint/2010/main" val="5112747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57483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3/27/2026</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1734329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19100" y="629392"/>
            <a:ext cx="11353800" cy="622300"/>
          </a:xfrm>
        </p:spPr>
        <p:txBody>
          <a:bodyPr lIns="91440"/>
          <a:lstStyle/>
          <a:p>
            <a:r>
              <a:rPr lang="en-US"/>
              <a:t>Click to edit Master title style</a:t>
            </a:r>
          </a:p>
        </p:txBody>
      </p:sp>
      <p:sp>
        <p:nvSpPr>
          <p:cNvPr id="3" name="Content Placeholder 2"/>
          <p:cNvSpPr>
            <a:spLocks noGrp="1"/>
          </p:cNvSpPr>
          <p:nvPr>
            <p:ph sz="half" idx="1"/>
          </p:nvPr>
        </p:nvSpPr>
        <p:spPr>
          <a:xfrm>
            <a:off x="419100" y="2501461"/>
            <a:ext cx="365760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29099" y="2501461"/>
            <a:ext cx="3733799"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15297" y="2501461"/>
            <a:ext cx="3657601"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19102" y="1412241"/>
            <a:ext cx="365759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229102" y="1412241"/>
            <a:ext cx="3733798"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15300" y="1412241"/>
            <a:ext cx="3657600"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Tree>
    <p:extLst>
      <p:ext uri="{BB962C8B-B14F-4D97-AF65-F5344CB8AC3E}">
        <p14:creationId xmlns:p14="http://schemas.microsoft.com/office/powerpoint/2010/main" val="1003392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9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482629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419100" y="629392"/>
            <a:ext cx="11353800" cy="622300"/>
          </a:xfrm>
        </p:spPr>
        <p:txBody>
          <a:bodyPr lIns="91440"/>
          <a:lstStyle/>
          <a:p>
            <a:r>
              <a:rPr lang="en-US"/>
              <a:t>Click to edit Master title style</a:t>
            </a:r>
          </a:p>
        </p:txBody>
      </p:sp>
      <p:sp>
        <p:nvSpPr>
          <p:cNvPr id="3" name="Content Placeholder 2"/>
          <p:cNvSpPr>
            <a:spLocks noGrp="1"/>
          </p:cNvSpPr>
          <p:nvPr>
            <p:ph sz="half" idx="1"/>
          </p:nvPr>
        </p:nvSpPr>
        <p:spPr>
          <a:xfrm>
            <a:off x="419100" y="2501461"/>
            <a:ext cx="365760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29099" y="2501461"/>
            <a:ext cx="3733799"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115297" y="2501461"/>
            <a:ext cx="3657601"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419102" y="1412241"/>
            <a:ext cx="365759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229102" y="1412241"/>
            <a:ext cx="3733798"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115300" y="1412241"/>
            <a:ext cx="3657600"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Tree>
    <p:extLst>
      <p:ext uri="{BB962C8B-B14F-4D97-AF65-F5344CB8AC3E}">
        <p14:creationId xmlns:p14="http://schemas.microsoft.com/office/powerpoint/2010/main" val="10033927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3/27/2026</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33848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3/27/2026</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7491011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3/27/2026</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598490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3/27/2026</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519021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5071C4-43D4-93E3-2667-4C5144278D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AA29C8-CEA6-505F-7297-EFF90E55E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979FA-E1A2-E4C7-7453-045F9683D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1FAD44-F6D0-4C7C-8206-F45DB611304A}" type="datetimeFigureOut">
              <a:rPr lang="en-US" smtClean="0"/>
              <a:t>3/27/2026</a:t>
            </a:fld>
            <a:endParaRPr lang="en-US"/>
          </a:p>
        </p:txBody>
      </p:sp>
      <p:sp>
        <p:nvSpPr>
          <p:cNvPr id="5" name="Footer Placeholder 4">
            <a:extLst>
              <a:ext uri="{FF2B5EF4-FFF2-40B4-BE49-F238E27FC236}">
                <a16:creationId xmlns:a16="http://schemas.microsoft.com/office/drawing/2014/main" id="{A1C5C5CA-D9C3-762C-FB09-6AC87DE29F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871B91-F2F7-9976-9FF4-9141819CCE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A734A-3B2A-47ED-9FBD-81CFB3E93756}" type="slidenum">
              <a:rPr lang="en-US" smtClean="0"/>
              <a:t>‹#›</a:t>
            </a:fld>
            <a:endParaRPr lang="en-US"/>
          </a:p>
        </p:txBody>
      </p:sp>
    </p:spTree>
    <p:extLst>
      <p:ext uri="{BB962C8B-B14F-4D97-AF65-F5344CB8AC3E}">
        <p14:creationId xmlns:p14="http://schemas.microsoft.com/office/powerpoint/2010/main" val="361206669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664215612"/>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40511270"/>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userDrawn="1">
          <p15:clr>
            <a:srgbClr val="F26B43"/>
          </p15:clr>
        </p15:guide>
        <p15:guide id="7" orient="horz" pos="2160">
          <p15:clr>
            <a:srgbClr val="F26B43"/>
          </p15:clr>
        </p15:guide>
        <p15:guide id="9" pos="5088" userDrawn="1">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userDrawn="1">
          <p15:clr>
            <a:srgbClr val="F26B43"/>
          </p15:clr>
        </p15:guide>
        <p15:guide id="17" pos="2664" userDrawn="1">
          <p15:clr>
            <a:srgbClr val="F26B43"/>
          </p15:clr>
        </p15:guide>
        <p15:guide id="18" pos="5016">
          <p15:clr>
            <a:srgbClr val="F26B43"/>
          </p15:clr>
        </p15:guide>
        <p15:guide id="19" pos="5160" userDrawn="1">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247714581"/>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1266058122"/>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3/27/2026</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7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2.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notesSlide" Target="../notesSlides/notesSlide1.xml"/><Relationship Id="rId4"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image" Target="../media/image4.png"/><Relationship Id="rId18" Type="http://schemas.openxmlformats.org/officeDocument/2006/relationships/image" Target="../media/image9.svg"/><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slideLayout" Target="../slideLayouts/slideLayout15.xml"/><Relationship Id="rId17" Type="http://schemas.openxmlformats.org/officeDocument/2006/relationships/image" Target="../media/image8.png"/><Relationship Id="rId2" Type="http://schemas.openxmlformats.org/officeDocument/2006/relationships/tags" Target="../tags/tag18.xml"/><Relationship Id="rId16" Type="http://schemas.openxmlformats.org/officeDocument/2006/relationships/image" Target="../media/image7.svg"/><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image" Target="../media/image6.png"/><Relationship Id="rId10" Type="http://schemas.openxmlformats.org/officeDocument/2006/relationships/tags" Target="../tags/tag26.xml"/><Relationship Id="rId19" Type="http://schemas.openxmlformats.org/officeDocument/2006/relationships/image" Target="../media/image10.png"/><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s>
</file>

<file path=ppt/slides/_rels/slide8.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3.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image" Target="../media/image12.sv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image" Target="../media/image11.png"/><Relationship Id="rId5" Type="http://schemas.openxmlformats.org/officeDocument/2006/relationships/tags" Target="../tags/tag47.xml"/><Relationship Id="rId10" Type="http://schemas.openxmlformats.org/officeDocument/2006/relationships/slideLayout" Target="../slideLayouts/slideLayout18.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14.svg"/></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image" Target="../media/image17.jpeg"/><Relationship Id="rId5" Type="http://schemas.openxmlformats.org/officeDocument/2006/relationships/tags" Target="../tags/tag56.xml"/><Relationship Id="rId10" Type="http://schemas.openxmlformats.org/officeDocument/2006/relationships/image" Target="../media/image16.jpeg"/><Relationship Id="rId4" Type="http://schemas.openxmlformats.org/officeDocument/2006/relationships/tags" Target="../tags/tag55.xml"/><Relationship Id="rId9"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9"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419100" y="896981"/>
            <a:ext cx="5600700" cy="3046369"/>
          </a:xfrm>
        </p:spPr>
        <p:txBody>
          <a:bodyPr lIns="0" anchor="b">
            <a:normAutofit/>
          </a:bodyPr>
          <a:lstStyle/>
          <a:p>
            <a:pPr>
              <a:lnSpc>
                <a:spcPct val="80000"/>
              </a:lnSpc>
            </a:pPr>
            <a:r>
              <a:rPr lang="en-US" sz="4800" dirty="0"/>
              <a:t>Dự báo tiêu thụ điện năng và chi phí</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a:xfrm>
            <a:off x="419100" y="6151881"/>
            <a:ext cx="5600700" cy="477519"/>
          </a:xfrm>
        </p:spPr>
        <p:txBody>
          <a:bodyPr lIns="0">
            <a:normAutofit/>
          </a:bodyPr>
          <a:lstStyle/>
          <a:p>
            <a:r>
              <a:rPr lang="en-US" sz="1800" dirty="0">
                <a:solidFill>
                  <a:schemeClr val="tx2"/>
                </a:solidFill>
              </a:rPr>
              <a:t>March 23, 2026</a:t>
            </a:r>
          </a:p>
        </p:txBody>
      </p:sp>
      <p:pic>
        <p:nvPicPr>
          <p:cNvPr id="6" name="Picture Placeholder 5">
            <a:extLst>
              <a:ext uri="{FF2B5EF4-FFF2-40B4-BE49-F238E27FC236}">
                <a16:creationId xmlns:a16="http://schemas.microsoft.com/office/drawing/2014/main" id="{0EC7E239-B87C-0950-545D-6BA9F67E08C5}"/>
              </a:ext>
            </a:extLst>
          </p:cNvPr>
          <p:cNvPicPr>
            <a:picLocks noGrp="1" noChangeAspect="1"/>
          </p:cNvPicPr>
          <p:nvPr>
            <p:ph type="pic" sz="quarter" idx="13"/>
            <p:custDataLst>
              <p:tags r:id="rId4"/>
            </p:custDataLst>
          </p:nvPr>
        </p:nvPicPr>
        <p:blipFill rotWithShape="1">
          <a:blip r:embed="rId7">
            <a:extLst>
              <a:ext uri="{96DAC541-7B7A-43D3-8B79-37D633B846F1}">
                <asvg:svgBlip xmlns:asvg="http://schemas.microsoft.com/office/drawing/2016/SVG/main" r:embed="rId8"/>
              </a:ext>
            </a:extLst>
          </a:blip>
          <a:srcRect r="-687774"/>
          <a:stretch>
            <a:fillRect/>
          </a:stretch>
        </p:blipFill>
        <p:spPr>
          <a:xfrm>
            <a:off x="419100" y="419100"/>
            <a:ext cx="3581400" cy="454657"/>
          </a:xfrm>
        </p:spPr>
      </p:pic>
      <p:sp>
        <p:nvSpPr>
          <p:cNvPr id="4" name="Subtitle 2">
            <a:extLst>
              <a:ext uri="{FF2B5EF4-FFF2-40B4-BE49-F238E27FC236}">
                <a16:creationId xmlns:a16="http://schemas.microsoft.com/office/drawing/2014/main" id="{7E80BB6F-2E6F-16EA-72DB-9809F2EADD6C}"/>
              </a:ext>
            </a:extLst>
          </p:cNvPr>
          <p:cNvSpPr txBox="1">
            <a:spLocks/>
          </p:cNvSpPr>
          <p:nvPr>
            <p:custDataLst>
              <p:tags r:id="rId5"/>
            </p:custDataLst>
          </p:nvPr>
        </p:nvSpPr>
        <p:spPr>
          <a:xfrm>
            <a:off x="419100" y="3943350"/>
            <a:ext cx="5600700" cy="9144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2400" kern="1200">
                <a:solidFill>
                  <a:schemeClr val="tx1"/>
                </a:solidFill>
                <a:latin typeface="+mn-lt"/>
                <a:ea typeface="+mn-ea"/>
                <a:cs typeface="Arial" panose="020B0604020202020204" pitchFamily="34" charset="0"/>
              </a:defRPr>
            </a:lvl1pPr>
            <a:lvl2pPr marL="457178" indent="0" algn="ctr" defTabSz="914354" rtl="0" eaLnBrk="1" latinLnBrk="0" hangingPunct="1">
              <a:lnSpc>
                <a:spcPct val="150000"/>
              </a:lnSpc>
              <a:spcBef>
                <a:spcPts val="1200"/>
              </a:spcBef>
              <a:buFont typeface="Arial" panose="020B0604020202020204" pitchFamily="34" charset="0"/>
              <a:buNone/>
              <a:tabLst/>
              <a:defRPr sz="2000" kern="1200">
                <a:solidFill>
                  <a:schemeClr val="tx1"/>
                </a:solidFill>
                <a:latin typeface="+mn-lt"/>
                <a:ea typeface="+mn-ea"/>
                <a:cs typeface="Arial" panose="020B0604020202020204" pitchFamily="34" charset="0"/>
              </a:defRPr>
            </a:lvl2pPr>
            <a:lvl3pPr marL="914354" indent="0" algn="ctr" defTabSz="914354" rtl="0" eaLnBrk="1" latinLnBrk="0" hangingPunct="1">
              <a:lnSpc>
                <a:spcPct val="150000"/>
              </a:lnSpc>
              <a:spcBef>
                <a:spcPts val="1200"/>
              </a:spcBef>
              <a:buFont typeface="Arial" panose="020B0604020202020204" pitchFamily="34" charset="0"/>
              <a:buNone/>
              <a:tabLst/>
              <a:defRPr sz="1800" kern="1200">
                <a:solidFill>
                  <a:schemeClr val="tx1"/>
                </a:solidFill>
                <a:latin typeface="+mn-lt"/>
                <a:ea typeface="+mn-ea"/>
                <a:cs typeface="Arial" panose="020B0604020202020204" pitchFamily="34" charset="0"/>
              </a:defRPr>
            </a:lvl3pPr>
            <a:lvl4pPr marL="1371532"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4pPr>
            <a:lvl5pPr marL="1828709"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5pPr>
            <a:lvl6pPr marL="2285886"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62"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40"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18"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800" dirty="0">
                <a:solidFill>
                  <a:schemeClr val="tx2"/>
                </a:solidFill>
              </a:rPr>
              <a:t>Đồ án môn Nhập môn Khoa học dữ liệu</a:t>
            </a:r>
          </a:p>
        </p:txBody>
      </p:sp>
      <p:pic>
        <p:nvPicPr>
          <p:cNvPr id="11" name="Picture 10">
            <a:extLst>
              <a:ext uri="{FF2B5EF4-FFF2-40B4-BE49-F238E27FC236}">
                <a16:creationId xmlns:a16="http://schemas.microsoft.com/office/drawing/2014/main" id="{9A56C1AD-38A0-8746-BFB7-749043190812}"/>
              </a:ext>
            </a:extLst>
          </p:cNvPr>
          <p:cNvPicPr>
            <a:picLocks noChangeAspect="1"/>
          </p:cNvPicPr>
          <p:nvPr/>
        </p:nvPicPr>
        <p:blipFill>
          <a:blip r:embed="rId9"/>
          <a:stretch>
            <a:fillRect/>
          </a:stretch>
        </p:blipFill>
        <p:spPr>
          <a:xfrm>
            <a:off x="6267311" y="1903445"/>
            <a:ext cx="5383708" cy="3735451"/>
          </a:xfrm>
          <a:prstGeom prst="rect">
            <a:avLst/>
          </a:prstGeom>
        </p:spPr>
      </p:pic>
    </p:spTree>
    <p:custDataLst>
      <p:tags r:id="rId1"/>
    </p:custDataLst>
    <p:extLst>
      <p:ext uri="{BB962C8B-B14F-4D97-AF65-F5344CB8AC3E}">
        <p14:creationId xmlns:p14="http://schemas.microsoft.com/office/powerpoint/2010/main" val="34272995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9FEFF9A-3920-5F80-47DD-45FD716CB630}"/>
              </a:ext>
            </a:extLst>
          </p:cNvPr>
          <p:cNvGraphicFramePr>
            <a:graphicFrameLocks noGrp="1"/>
          </p:cNvGraphicFramePr>
          <p:nvPr>
            <p:extLst>
              <p:ext uri="{D42A27DB-BD31-4B8C-83A1-F6EECF244321}">
                <p14:modId xmlns:p14="http://schemas.microsoft.com/office/powerpoint/2010/main" val="2550795315"/>
              </p:ext>
            </p:extLst>
          </p:nvPr>
        </p:nvGraphicFramePr>
        <p:xfrm>
          <a:off x="1091683" y="821094"/>
          <a:ext cx="9068317" cy="1523784"/>
        </p:xfrm>
        <a:graphic>
          <a:graphicData uri="http://schemas.openxmlformats.org/drawingml/2006/table">
            <a:tbl>
              <a:tblPr firstRow="1" bandRow="1">
                <a:tableStyleId>{073A0DAA-6AF3-43AB-8588-CEC1D06C72B9}</a:tableStyleId>
              </a:tblPr>
              <a:tblGrid>
                <a:gridCol w="2397966">
                  <a:extLst>
                    <a:ext uri="{9D8B030D-6E8A-4147-A177-3AD203B41FA5}">
                      <a16:colId xmlns:a16="http://schemas.microsoft.com/office/drawing/2014/main" val="3769984500"/>
                    </a:ext>
                  </a:extLst>
                </a:gridCol>
                <a:gridCol w="1558212">
                  <a:extLst>
                    <a:ext uri="{9D8B030D-6E8A-4147-A177-3AD203B41FA5}">
                      <a16:colId xmlns:a16="http://schemas.microsoft.com/office/drawing/2014/main" val="2121522552"/>
                    </a:ext>
                  </a:extLst>
                </a:gridCol>
                <a:gridCol w="2793905">
                  <a:extLst>
                    <a:ext uri="{9D8B030D-6E8A-4147-A177-3AD203B41FA5}">
                      <a16:colId xmlns:a16="http://schemas.microsoft.com/office/drawing/2014/main" val="2245037813"/>
                    </a:ext>
                  </a:extLst>
                </a:gridCol>
                <a:gridCol w="2318234">
                  <a:extLst>
                    <a:ext uri="{9D8B030D-6E8A-4147-A177-3AD203B41FA5}">
                      <a16:colId xmlns:a16="http://schemas.microsoft.com/office/drawing/2014/main" val="1092098210"/>
                    </a:ext>
                  </a:extLst>
                </a:gridCol>
              </a:tblGrid>
              <a:tr h="426504">
                <a:tc>
                  <a:txBody>
                    <a:bodyPr/>
                    <a:lstStyle/>
                    <a:p>
                      <a:r>
                        <a:rPr lang="vi-VN" b="0" dirty="0">
                          <a:solidFill>
                            <a:schemeClr val="tx1">
                              <a:lumMod val="85000"/>
                              <a:lumOff val="15000"/>
                            </a:schemeClr>
                          </a:solidFill>
                        </a:rPr>
                        <a:t>Họ Và tên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 Mã sinh viên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 Lớp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Chức vụ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84259520"/>
                  </a:ext>
                </a:extLst>
              </a:tr>
              <a:tr h="346860">
                <a:tc>
                  <a:txBody>
                    <a:bodyPr/>
                    <a:lstStyle/>
                    <a:p>
                      <a:r>
                        <a:rPr lang="vi-VN" b="0" dirty="0">
                          <a:solidFill>
                            <a:schemeClr val="tx1">
                              <a:lumMod val="85000"/>
                              <a:lumOff val="15000"/>
                            </a:schemeClr>
                          </a:solidFill>
                        </a:rPr>
                        <a:t>Bùi Văn Thư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698273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K69TTNTA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Thành viên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507030"/>
                  </a:ext>
                </a:extLst>
              </a:tr>
              <a:tr h="346860">
                <a:tc>
                  <a:txBody>
                    <a:bodyPr/>
                    <a:lstStyle/>
                    <a:p>
                      <a:r>
                        <a:rPr lang="vi-VN" b="0" dirty="0">
                          <a:solidFill>
                            <a:schemeClr val="tx1">
                              <a:lumMod val="85000"/>
                              <a:lumOff val="15000"/>
                            </a:schemeClr>
                          </a:solidFill>
                        </a:rPr>
                        <a:t>Nguyễn Đình Trung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698288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K69TTNTA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Thành viên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7758093"/>
                  </a:ext>
                </a:extLst>
              </a:tr>
              <a:tr h="346860">
                <a:tc>
                  <a:txBody>
                    <a:bodyPr/>
                    <a:lstStyle/>
                    <a:p>
                      <a:r>
                        <a:rPr lang="vi-VN" b="0" dirty="0">
                          <a:solidFill>
                            <a:schemeClr val="tx1">
                              <a:lumMod val="85000"/>
                              <a:lumOff val="15000"/>
                            </a:schemeClr>
                          </a:solidFill>
                        </a:rPr>
                        <a:t>Vũ Việt Thành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a:solidFill>
                            <a:schemeClr val="tx1">
                              <a:lumMod val="85000"/>
                              <a:lumOff val="15000"/>
                            </a:schemeClr>
                          </a:solidFill>
                        </a:rPr>
                        <a:t>698259</a:t>
                      </a:r>
                      <a:endParaRPr lang="vi-VN" b="0" dirty="0">
                        <a:solidFill>
                          <a:schemeClr val="tx1">
                            <a:lumMod val="85000"/>
                            <a:lumOff val="1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K69TTNTA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vi-VN" b="0" dirty="0">
                          <a:solidFill>
                            <a:schemeClr val="tx1">
                              <a:lumMod val="85000"/>
                              <a:lumOff val="15000"/>
                            </a:schemeClr>
                          </a:solidFill>
                        </a:rPr>
                        <a:t>Nhóm trưởng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2965821"/>
                  </a:ext>
                </a:extLst>
              </a:tr>
            </a:tbl>
          </a:graphicData>
        </a:graphic>
      </p:graphicFrame>
    </p:spTree>
    <p:extLst>
      <p:ext uri="{BB962C8B-B14F-4D97-AF65-F5344CB8AC3E}">
        <p14:creationId xmlns:p14="http://schemas.microsoft.com/office/powerpoint/2010/main" val="2795300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D0D03F5-F669-D9B8-3E49-356D593494EE}"/>
              </a:ext>
            </a:extLst>
          </p:cNvPr>
          <p:cNvSpPr/>
          <p:nvPr/>
        </p:nvSpPr>
        <p:spPr>
          <a:xfrm>
            <a:off x="3772136" y="794917"/>
            <a:ext cx="9031987" cy="6322266"/>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419100" y="419100"/>
            <a:ext cx="3657600" cy="838200"/>
          </a:xfrm>
        </p:spPr>
        <p:txBody>
          <a:bodyPr lIns="0">
            <a:normAutofit/>
          </a:bodyPr>
          <a:lstStyle/>
          <a:p>
            <a:r>
              <a:rPr lang="en-US" dirty="0"/>
              <a:t>Agenda</a:t>
            </a:r>
          </a:p>
        </p:txBody>
      </p:sp>
      <p:sp>
        <p:nvSpPr>
          <p:cNvPr id="5" name="Content Placeholder 4">
            <a:extLst>
              <a:ext uri="{FF2B5EF4-FFF2-40B4-BE49-F238E27FC236}">
                <a16:creationId xmlns:a16="http://schemas.microsoft.com/office/drawing/2014/main" id="{49567922-F16D-ADA1-AF4D-B5436EAC2F7F}"/>
              </a:ext>
            </a:extLst>
          </p:cNvPr>
          <p:cNvSpPr>
            <a:spLocks noGrp="1"/>
          </p:cNvSpPr>
          <p:nvPr>
            <p:ph idx="4294967295"/>
            <p:custDataLst>
              <p:tags r:id="rId2"/>
            </p:custDataLst>
          </p:nvPr>
        </p:nvSpPr>
        <p:spPr>
          <a:xfrm>
            <a:off x="419100" y="1399592"/>
            <a:ext cx="10389401" cy="5255208"/>
          </a:xfrm>
        </p:spPr>
        <p:txBody>
          <a:bodyPr numCol="2">
            <a:normAutofit/>
          </a:bodyPr>
          <a:lstStyle/>
          <a:p>
            <a:pPr marL="404813" indent="-395288">
              <a:lnSpc>
                <a:spcPct val="100000"/>
              </a:lnSpc>
              <a:buClr>
                <a:schemeClr val="accent1"/>
              </a:buClr>
              <a:buFont typeface="+mj-lt"/>
              <a:buAutoNum type="arabicPeriod"/>
            </a:pPr>
            <a:r>
              <a:rPr lang="en-US" sz="1800" dirty="0"/>
              <a:t>Tiêu đề và giới thiệu đề tài</a:t>
            </a:r>
          </a:p>
          <a:p>
            <a:pPr marL="404813" indent="-395288">
              <a:lnSpc>
                <a:spcPct val="100000"/>
              </a:lnSpc>
              <a:buClr>
                <a:schemeClr val="accent1"/>
              </a:buClr>
              <a:buFont typeface="+mj-lt"/>
              <a:buAutoNum type="arabicPeriod"/>
            </a:pPr>
            <a:r>
              <a:rPr lang="en-US" sz="1800" dirty="0"/>
              <a:t>Lý do chọn đề tài và mục tiêu</a:t>
            </a:r>
          </a:p>
          <a:p>
            <a:pPr marL="404813" indent="-395288">
              <a:lnSpc>
                <a:spcPct val="100000"/>
              </a:lnSpc>
              <a:buClr>
                <a:schemeClr val="accent1"/>
              </a:buClr>
              <a:buFont typeface="+mj-lt"/>
              <a:buAutoNum type="arabicPeriod"/>
            </a:pPr>
            <a:r>
              <a:rPr lang="en-US" sz="1800" dirty="0"/>
              <a:t>Thu thập dữ liệu và thuộc tính</a:t>
            </a:r>
          </a:p>
          <a:p>
            <a:pPr marL="404813" indent="-395288">
              <a:lnSpc>
                <a:spcPct val="100000"/>
              </a:lnSpc>
              <a:buClr>
                <a:schemeClr val="accent1"/>
              </a:buClr>
              <a:buFont typeface="+mj-lt"/>
              <a:buAutoNum type="arabicPeriod"/>
            </a:pPr>
            <a:r>
              <a:rPr lang="en-US" sz="1800" dirty="0"/>
              <a:t>Tiền xử lý dữ liệu</a:t>
            </a:r>
          </a:p>
          <a:p>
            <a:pPr marL="404813" indent="-395288">
              <a:lnSpc>
                <a:spcPct val="100000"/>
              </a:lnSpc>
              <a:buClr>
                <a:schemeClr val="accent1"/>
              </a:buClr>
              <a:buFont typeface="+mj-lt"/>
              <a:buAutoNum type="arabicPeriod"/>
            </a:pPr>
            <a:r>
              <a:rPr lang="en-US" sz="1800" dirty="0"/>
              <a:t>Phương pháp thực hiện mô hình</a:t>
            </a:r>
          </a:p>
          <a:p>
            <a:pPr marL="404813" indent="-395288">
              <a:lnSpc>
                <a:spcPct val="100000"/>
              </a:lnSpc>
              <a:buClr>
                <a:schemeClr val="accent1"/>
              </a:buClr>
              <a:buFont typeface="+mj-lt"/>
              <a:buAutoNum type="arabicPeriod"/>
            </a:pPr>
            <a:r>
              <a:rPr lang="en-US" sz="1800" dirty="0"/>
              <a:t>Logic tính toán tiền điện EVN</a:t>
            </a:r>
          </a:p>
          <a:p>
            <a:pPr marL="404813" indent="-395288">
              <a:lnSpc>
                <a:spcPct val="100000"/>
              </a:lnSpc>
              <a:buClr>
                <a:schemeClr val="accent1"/>
              </a:buClr>
              <a:buFont typeface="+mj-lt"/>
              <a:buAutoNum type="arabicPeriod"/>
            </a:pPr>
            <a:r>
              <a:rPr lang="en-US" sz="1800" dirty="0"/>
              <a:t>Kết quả dự báo tiêu thụ điện</a:t>
            </a:r>
          </a:p>
          <a:p>
            <a:pPr marL="404813" indent="-395288">
              <a:lnSpc>
                <a:spcPct val="100000"/>
              </a:lnSpc>
              <a:buClr>
                <a:schemeClr val="accent1"/>
              </a:buClr>
              <a:buFont typeface="+mj-lt"/>
              <a:buAutoNum type="arabicPeriod"/>
            </a:pPr>
            <a:r>
              <a:rPr lang="en-US" sz="1800" dirty="0"/>
              <a:t>Kết luận và hướng </a:t>
            </a:r>
            <a:r>
              <a:rPr lang="en-US" sz="1800" dirty="0" err="1"/>
              <a:t>phát</a:t>
            </a:r>
            <a:r>
              <a:rPr lang="en-US" sz="1800" dirty="0"/>
              <a:t> </a:t>
            </a:r>
            <a:r>
              <a:rPr lang="en-US" sz="1800" dirty="0" err="1"/>
              <a:t>triển</a:t>
            </a:r>
            <a:endParaRPr lang="en-US" sz="1800" dirty="0"/>
          </a:p>
        </p:txBody>
      </p:sp>
      <p:sp>
        <p:nvSpPr>
          <p:cNvPr id="3" name="Rectangle 2">
            <a:extLst>
              <a:ext uri="{FF2B5EF4-FFF2-40B4-BE49-F238E27FC236}">
                <a16:creationId xmlns:a16="http://schemas.microsoft.com/office/drawing/2014/main" id="{39530926-5351-1AF7-15F4-9B8C34076032}"/>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7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1"/>
            </p:custDataLst>
          </p:nvPr>
        </p:nvSpPr>
        <p:spPr/>
        <p:txBody>
          <a:bodyPr lIns="0">
            <a:normAutofit/>
          </a:bodyPr>
          <a:lstStyle/>
          <a:p>
            <a:r>
              <a:rPr lang="en-US" noProof="1"/>
              <a:t>Lý do chọn đề tài</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2"/>
            </p:custDataLst>
          </p:nvPr>
        </p:nvSpPr>
        <p:spPr>
          <a:xfrm>
            <a:off x="419103" y="2545080"/>
            <a:ext cx="3581398" cy="3746500"/>
          </a:xfrm>
        </p:spPr>
        <p:txBody>
          <a:bodyPr vert="horz" lIns="0" tIns="45720" rIns="91440" bIns="45720" rtlCol="0">
            <a:normAutofit/>
          </a:bodyPr>
          <a:lstStyle/>
          <a:p>
            <a:pPr marL="11113" indent="0">
              <a:lnSpc>
                <a:spcPct val="114000"/>
              </a:lnSpc>
              <a:buNone/>
            </a:pPr>
            <a:r>
              <a:rPr lang="en-US" noProof="1"/>
              <a:t>Chi phí tiền điện ở Việt Nam thay đổi đáng kể theo mùa, đặc biệt mùa hè nóng bức khiến lượng điện tiêu thụ tăng cao do sử dụng điều hòa nhiều.</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3"/>
            </p:custDataLst>
          </p:nvPr>
        </p:nvSpPr>
        <p:spPr>
          <a:xfrm>
            <a:off x="4305303" y="2545080"/>
            <a:ext cx="3581398" cy="3746500"/>
          </a:xfrm>
        </p:spPr>
        <p:txBody>
          <a:bodyPr vert="horz" lIns="0" tIns="45720" rIns="91440" bIns="45720" rtlCol="0">
            <a:normAutofit/>
          </a:bodyPr>
          <a:lstStyle/>
          <a:p>
            <a:pPr marL="11113" indent="0">
              <a:lnSpc>
                <a:spcPct val="114000"/>
              </a:lnSpc>
              <a:buNone/>
            </a:pPr>
            <a:r>
              <a:rPr lang="en-US" noProof="1"/>
              <a:t>Sử dụng dữ liệu tiêu thụ điện lịch sử để dự báo chính xác lượng điện và chi phí trong 3 tháng tới, giúp người dùng quản lý tài chính hiệu quả hơn.</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4"/>
            </p:custDataLst>
          </p:nvPr>
        </p:nvSpPr>
        <p:spPr>
          <a:xfrm>
            <a:off x="8191502" y="2545080"/>
            <a:ext cx="3581398" cy="3746500"/>
          </a:xfrm>
        </p:spPr>
        <p:txBody>
          <a:bodyPr vert="horz" lIns="0" tIns="45720" rIns="91440" bIns="45720" rtlCol="0">
            <a:normAutofit/>
          </a:bodyPr>
          <a:lstStyle/>
          <a:p>
            <a:pPr marL="11113" indent="0">
              <a:lnSpc>
                <a:spcPct val="114000"/>
              </a:lnSpc>
              <a:buNone/>
            </a:pPr>
            <a:r>
              <a:rPr lang="en-US" noProof="1"/>
              <a:t>Sử dụng các kỹ thuật xử lý dữ liệu và mô hình học máy cơ bản như hồi quy tuyến tính để tìm ra quy luật tiêu thụ và dự báo chi phí.</a:t>
            </a:r>
          </a:p>
        </p:txBody>
      </p:sp>
      <p:sp>
        <p:nvSpPr>
          <p:cNvPr id="20" name="Text Placeholder 19">
            <a:extLst>
              <a:ext uri="{FF2B5EF4-FFF2-40B4-BE49-F238E27FC236}">
                <a16:creationId xmlns:a16="http://schemas.microsoft.com/office/drawing/2014/main" id="{77079A3D-6F12-1C02-B417-AE815CFABFDF}"/>
              </a:ext>
            </a:extLst>
          </p:cNvPr>
          <p:cNvSpPr>
            <a:spLocks noGrp="1"/>
          </p:cNvSpPr>
          <p:nvPr>
            <p:ph type="body" idx="14"/>
            <p:custDataLst>
              <p:tags r:id="rId5"/>
            </p:custDataLst>
          </p:nvPr>
        </p:nvSpPr>
        <p:spPr>
          <a:xfrm>
            <a:off x="419100" y="1905000"/>
            <a:ext cx="3581398" cy="635000"/>
          </a:xfrm>
        </p:spPr>
        <p:txBody>
          <a:bodyPr lIns="0" anchor="t">
            <a:normAutofit/>
          </a:bodyPr>
          <a:lstStyle/>
          <a:p>
            <a:r>
              <a:rPr lang="en-US" sz="1800" noProof="1">
                <a:latin typeface="+mj-lt"/>
              </a:rPr>
              <a:t>Vấn đề biến động chi phí điện</a:t>
            </a:r>
          </a:p>
        </p:txBody>
      </p:sp>
      <p:sp>
        <p:nvSpPr>
          <p:cNvPr id="18" name="Text Placeholder 17">
            <a:extLst>
              <a:ext uri="{FF2B5EF4-FFF2-40B4-BE49-F238E27FC236}">
                <a16:creationId xmlns:a16="http://schemas.microsoft.com/office/drawing/2014/main" id="{444BD0B7-77D1-C502-C24F-E0457FD904DB}"/>
              </a:ext>
            </a:extLst>
          </p:cNvPr>
          <p:cNvSpPr>
            <a:spLocks noGrp="1"/>
          </p:cNvSpPr>
          <p:nvPr>
            <p:ph type="body" idx="15"/>
            <p:custDataLst>
              <p:tags r:id="rId6"/>
            </p:custDataLst>
          </p:nvPr>
        </p:nvSpPr>
        <p:spPr>
          <a:xfrm>
            <a:off x="4305301" y="1905000"/>
            <a:ext cx="3581398" cy="635000"/>
          </a:xfrm>
        </p:spPr>
        <p:txBody>
          <a:bodyPr lIns="0" anchor="t">
            <a:normAutofit/>
          </a:bodyPr>
          <a:lstStyle/>
          <a:p>
            <a:r>
              <a:rPr lang="en-US" sz="1800" noProof="1">
                <a:latin typeface="+mj-lt"/>
              </a:rPr>
              <a:t>Mục tiêu dự báo</a:t>
            </a:r>
          </a:p>
        </p:txBody>
      </p:sp>
      <p:sp>
        <p:nvSpPr>
          <p:cNvPr id="16" name="Text Placeholder 15">
            <a:extLst>
              <a:ext uri="{FF2B5EF4-FFF2-40B4-BE49-F238E27FC236}">
                <a16:creationId xmlns:a16="http://schemas.microsoft.com/office/drawing/2014/main" id="{52A21A83-D876-9C72-4780-3581E1B5B658}"/>
              </a:ext>
            </a:extLst>
          </p:cNvPr>
          <p:cNvSpPr>
            <a:spLocks noGrp="1"/>
          </p:cNvSpPr>
          <p:nvPr>
            <p:ph type="body" idx="16"/>
            <p:custDataLst>
              <p:tags r:id="rId7"/>
            </p:custDataLst>
          </p:nvPr>
        </p:nvSpPr>
        <p:spPr>
          <a:xfrm>
            <a:off x="8191502" y="1905000"/>
            <a:ext cx="3581398" cy="635000"/>
          </a:xfrm>
        </p:spPr>
        <p:txBody>
          <a:bodyPr lIns="0" anchor="t">
            <a:normAutofit/>
          </a:bodyPr>
          <a:lstStyle/>
          <a:p>
            <a:r>
              <a:rPr lang="en-US" sz="1800" noProof="1">
                <a:latin typeface="+mj-lt"/>
              </a:rPr>
              <a:t>Áp dụng kỹ thuật học máy</a:t>
            </a:r>
          </a:p>
        </p:txBody>
      </p:sp>
      <p:sp>
        <p:nvSpPr>
          <p:cNvPr id="2" name="Rectangle 1">
            <a:extLst>
              <a:ext uri="{FF2B5EF4-FFF2-40B4-BE49-F238E27FC236}">
                <a16:creationId xmlns:a16="http://schemas.microsoft.com/office/drawing/2014/main" id="{65D50419-C0A5-2DAB-F1D2-B1C23FF0C523}"/>
              </a:ext>
            </a:extLst>
          </p:cNvPr>
          <p:cNvSpPr/>
          <p:nvPr>
            <p:custDataLst>
              <p:tags r:id="rId8"/>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4" name="TextBox 3">
            <a:extLst>
              <a:ext uri="{FF2B5EF4-FFF2-40B4-BE49-F238E27FC236}">
                <a16:creationId xmlns:a16="http://schemas.microsoft.com/office/drawing/2014/main" id="{1147348F-4C63-9910-CDB0-9169A353728F}"/>
              </a:ext>
            </a:extLst>
          </p:cNvPr>
          <p:cNvSpPr txBox="1"/>
          <p:nvPr/>
        </p:nvSpPr>
        <p:spPr>
          <a:xfrm>
            <a:off x="419099" y="1485900"/>
            <a:ext cx="842353" cy="400110"/>
          </a:xfrm>
          <a:prstGeom prst="rect">
            <a:avLst/>
          </a:prstGeom>
          <a:noFill/>
        </p:spPr>
        <p:txBody>
          <a:bodyPr wrap="square" lIns="0" rtlCol="0">
            <a:spAutoFit/>
          </a:bodyPr>
          <a:lstStyle/>
          <a:p>
            <a:r>
              <a:rPr lang="en-US" sz="2000" b="1" noProof="1">
                <a:solidFill>
                  <a:schemeClr val="accent1"/>
                </a:solidFill>
              </a:rPr>
              <a:t>01</a:t>
            </a:r>
          </a:p>
        </p:txBody>
      </p:sp>
      <p:sp>
        <p:nvSpPr>
          <p:cNvPr id="5" name="TextBox 4">
            <a:extLst>
              <a:ext uri="{FF2B5EF4-FFF2-40B4-BE49-F238E27FC236}">
                <a16:creationId xmlns:a16="http://schemas.microsoft.com/office/drawing/2014/main" id="{3C737089-A9D4-3C36-A417-E088EEFC41D3}"/>
              </a:ext>
            </a:extLst>
          </p:cNvPr>
          <p:cNvSpPr txBox="1"/>
          <p:nvPr/>
        </p:nvSpPr>
        <p:spPr>
          <a:xfrm>
            <a:off x="4305301" y="1485900"/>
            <a:ext cx="842353" cy="400110"/>
          </a:xfrm>
          <a:prstGeom prst="rect">
            <a:avLst/>
          </a:prstGeom>
          <a:noFill/>
        </p:spPr>
        <p:txBody>
          <a:bodyPr wrap="square" lIns="0" rtlCol="0">
            <a:spAutoFit/>
          </a:bodyPr>
          <a:lstStyle/>
          <a:p>
            <a:r>
              <a:rPr lang="en-US" sz="2000" b="1" noProof="1">
                <a:solidFill>
                  <a:schemeClr val="accent1"/>
                </a:solidFill>
              </a:rPr>
              <a:t>02</a:t>
            </a:r>
          </a:p>
        </p:txBody>
      </p:sp>
      <p:sp>
        <p:nvSpPr>
          <p:cNvPr id="6" name="TextBox 5">
            <a:extLst>
              <a:ext uri="{FF2B5EF4-FFF2-40B4-BE49-F238E27FC236}">
                <a16:creationId xmlns:a16="http://schemas.microsoft.com/office/drawing/2014/main" id="{B5DCB58D-6E9E-D96E-26F5-3C3AB5FD0404}"/>
              </a:ext>
            </a:extLst>
          </p:cNvPr>
          <p:cNvSpPr txBox="1"/>
          <p:nvPr/>
        </p:nvSpPr>
        <p:spPr>
          <a:xfrm>
            <a:off x="8191502" y="1485900"/>
            <a:ext cx="842353" cy="400110"/>
          </a:xfrm>
          <a:prstGeom prst="rect">
            <a:avLst/>
          </a:prstGeom>
          <a:noFill/>
        </p:spPr>
        <p:txBody>
          <a:bodyPr wrap="square" lIns="0" rtlCol="0">
            <a:spAutoFit/>
          </a:bodyPr>
          <a:lstStyle/>
          <a:p>
            <a:r>
              <a:rPr lang="en-US" sz="2000" b="1" noProof="1">
                <a:solidFill>
                  <a:schemeClr val="accent1"/>
                </a:solidFill>
              </a:rPr>
              <a:t>03</a:t>
            </a:r>
          </a:p>
        </p:txBody>
      </p:sp>
    </p:spTree>
    <p:extLst>
      <p:ext uri="{BB962C8B-B14F-4D97-AF65-F5344CB8AC3E}">
        <p14:creationId xmlns:p14="http://schemas.microsoft.com/office/powerpoint/2010/main" val="1847290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DAF14-DB79-5413-5180-DCFD264F374D}"/>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656A3E8-C28D-6697-B672-143DD40C1A84}"/>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p>
        </p:txBody>
      </p:sp>
      <p:pic>
        <p:nvPicPr>
          <p:cNvPr id="6" name="Graphic 5">
            <a:extLst>
              <a:ext uri="{FF2B5EF4-FFF2-40B4-BE49-F238E27FC236}">
                <a16:creationId xmlns:a16="http://schemas.microsoft.com/office/drawing/2014/main" id="{F7F5C78A-E91D-970B-011B-EEC903A4825D}"/>
              </a:ext>
            </a:extLst>
          </p:cNvPr>
          <p:cNvPicPr>
            <a:picLocks noChangeAspect="1"/>
          </p:cNvPicPr>
          <p:nvPr>
            <p:custDataLst>
              <p:tags r:id="rId1"/>
            </p:custDataLst>
          </p:nvPr>
        </p:nvPicPr>
        <p:blipFill>
          <a:blip r:embed="rId13">
            <a:extLst>
              <a:ext uri="{96DAC541-7B7A-43D3-8B79-37D633B846F1}">
                <asvg:svgBlip xmlns:asvg="http://schemas.microsoft.com/office/drawing/2016/SVG/main" r:embed="rId14"/>
              </a:ext>
            </a:extLst>
          </a:blip>
          <a:stretch>
            <a:fillRect/>
          </a:stretch>
        </p:blipFill>
        <p:spPr>
          <a:xfrm>
            <a:off x="4419004" y="476974"/>
            <a:ext cx="274320" cy="274320"/>
          </a:xfrm>
          <a:prstGeom prst="rect">
            <a:avLst/>
          </a:prstGeom>
        </p:spPr>
      </p:pic>
      <p:pic>
        <p:nvPicPr>
          <p:cNvPr id="7" name="Graphic 6">
            <a:extLst>
              <a:ext uri="{FF2B5EF4-FFF2-40B4-BE49-F238E27FC236}">
                <a16:creationId xmlns:a16="http://schemas.microsoft.com/office/drawing/2014/main" id="{01687E9A-8643-69E7-2371-4EA64F8ED500}"/>
              </a:ext>
            </a:extLst>
          </p:cNvPr>
          <p:cNvPicPr>
            <a:picLocks noChangeAspect="1"/>
          </p:cNvPicPr>
          <p:nvPr>
            <p:custDataLst>
              <p:tags r:id="rId2"/>
            </p:custDataLst>
          </p:nvPr>
        </p:nvPicPr>
        <p:blipFill>
          <a:blip r:embed="rId15">
            <a:extLst>
              <a:ext uri="{96DAC541-7B7A-43D3-8B79-37D633B846F1}">
                <asvg:svgBlip xmlns:asvg="http://schemas.microsoft.com/office/drawing/2016/SVG/main" r:embed="rId16"/>
              </a:ext>
            </a:extLst>
          </a:blip>
          <a:stretch>
            <a:fillRect/>
          </a:stretch>
        </p:blipFill>
        <p:spPr>
          <a:xfrm>
            <a:off x="4419004" y="2539137"/>
            <a:ext cx="274320" cy="274320"/>
          </a:xfrm>
          <a:prstGeom prst="rect">
            <a:avLst/>
          </a:prstGeom>
        </p:spPr>
      </p:pic>
      <p:pic>
        <p:nvPicPr>
          <p:cNvPr id="12" name="Graphic 11">
            <a:extLst>
              <a:ext uri="{FF2B5EF4-FFF2-40B4-BE49-F238E27FC236}">
                <a16:creationId xmlns:a16="http://schemas.microsoft.com/office/drawing/2014/main" id="{60C1E4CE-FD76-C218-45BB-B3CF9499EA46}"/>
              </a:ext>
            </a:extLst>
          </p:cNvPr>
          <p:cNvPicPr>
            <a:picLocks noChangeAspect="1"/>
          </p:cNvPicPr>
          <p:nvPr>
            <p:custDataLst>
              <p:tags r:id="rId3"/>
            </p:custDataLst>
          </p:nvPr>
        </p:nvPicPr>
        <p:blipFill>
          <a:blip r:embed="rId17">
            <a:extLst>
              <a:ext uri="{96DAC541-7B7A-43D3-8B79-37D633B846F1}">
                <asvg:svgBlip xmlns:asvg="http://schemas.microsoft.com/office/drawing/2016/SVG/main" r:embed="rId18"/>
              </a:ext>
            </a:extLst>
          </a:blip>
          <a:stretch>
            <a:fillRect/>
          </a:stretch>
        </p:blipFill>
        <p:spPr>
          <a:xfrm>
            <a:off x="4419004" y="4601300"/>
            <a:ext cx="274320" cy="274320"/>
          </a:xfrm>
          <a:prstGeom prst="rect">
            <a:avLst/>
          </a:prstGeom>
        </p:spPr>
      </p:pic>
      <p:sp>
        <p:nvSpPr>
          <p:cNvPr id="9" name="Title 8">
            <a:extLst>
              <a:ext uri="{FF2B5EF4-FFF2-40B4-BE49-F238E27FC236}">
                <a16:creationId xmlns:a16="http://schemas.microsoft.com/office/drawing/2014/main" id="{3A963EF6-72BE-690D-C4A9-470EF49C53CA}"/>
              </a:ext>
            </a:extLst>
          </p:cNvPr>
          <p:cNvSpPr>
            <a:spLocks noGrp="1"/>
          </p:cNvSpPr>
          <p:nvPr>
            <p:ph type="title"/>
            <p:custDataLst>
              <p:tags r:id="rId4"/>
            </p:custDataLst>
          </p:nvPr>
        </p:nvSpPr>
        <p:spPr/>
        <p:txBody>
          <a:bodyPr lIns="0">
            <a:normAutofit/>
          </a:bodyPr>
          <a:lstStyle/>
          <a:p>
            <a:r>
              <a:rPr lang="en-US" noProof="1"/>
              <a:t>Thu thập dữ liệu</a:t>
            </a:r>
          </a:p>
        </p:txBody>
      </p:sp>
      <p:sp>
        <p:nvSpPr>
          <p:cNvPr id="16" name="Rectangle 15">
            <a:extLst>
              <a:ext uri="{FF2B5EF4-FFF2-40B4-BE49-F238E27FC236}">
                <a16:creationId xmlns:a16="http://schemas.microsoft.com/office/drawing/2014/main" id="{463A61BC-0F96-A8DF-5A52-CB78E4BDA1DB}"/>
              </a:ext>
            </a:extLst>
          </p:cNvPr>
          <p:cNvSpPr/>
          <p:nvPr>
            <p:custDataLst>
              <p:tags r:id="rId5"/>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Content Placeholder 25">
            <a:extLst>
              <a:ext uri="{FF2B5EF4-FFF2-40B4-BE49-F238E27FC236}">
                <a16:creationId xmlns:a16="http://schemas.microsoft.com/office/drawing/2014/main" id="{783A5D1F-14B4-DB9A-C0E0-01A7C47CC67F}"/>
              </a:ext>
            </a:extLst>
          </p:cNvPr>
          <p:cNvSpPr>
            <a:spLocks noGrp="1"/>
          </p:cNvSpPr>
          <p:nvPr>
            <p:ph idx="1"/>
            <p:custDataLst>
              <p:tags r:id="rId6"/>
            </p:custDataLst>
          </p:nvPr>
        </p:nvSpPr>
        <p:spPr>
          <a:xfrm>
            <a:off x="6667500" y="419100"/>
            <a:ext cx="5105400" cy="1866901"/>
          </a:xfrm>
        </p:spPr>
        <p:txBody>
          <a:bodyPr vert="horz" lIns="91440" tIns="45720" rIns="91440" bIns="45720" rtlCol="0">
            <a:normAutofit/>
          </a:bodyPr>
          <a:lstStyle/>
          <a:p>
            <a:pPr marL="11113" indent="0">
              <a:lnSpc>
                <a:spcPct val="114000"/>
              </a:lnSpc>
              <a:spcBef>
                <a:spcPts val="1000"/>
              </a:spcBef>
              <a:buNone/>
            </a:pPr>
            <a:r>
              <a:rPr lang="en-US" sz="1400" noProof="1"/>
              <a:t>Dữ liệu được lấy từ ứng dụng EVN hoặc hóa đơn giấy trong 2 năm 2024-2025, đảm bảo tính chính xác và thực tế.</a:t>
            </a:r>
          </a:p>
        </p:txBody>
      </p:sp>
      <p:sp>
        <p:nvSpPr>
          <p:cNvPr id="11" name="Content Placeholder 27">
            <a:extLst>
              <a:ext uri="{FF2B5EF4-FFF2-40B4-BE49-F238E27FC236}">
                <a16:creationId xmlns:a16="http://schemas.microsoft.com/office/drawing/2014/main" id="{BEC1AD68-2560-0231-F3DD-3451F0CFDE76}"/>
              </a:ext>
            </a:extLst>
          </p:cNvPr>
          <p:cNvSpPr txBox="1">
            <a:spLocks/>
          </p:cNvSpPr>
          <p:nvPr>
            <p:custDataLst>
              <p:tags r:id="rId7"/>
            </p:custDataLst>
          </p:nvPr>
        </p:nvSpPr>
        <p:spPr>
          <a:xfrm>
            <a:off x="6667500" y="2481262"/>
            <a:ext cx="5105400" cy="1866901"/>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spcBef>
                <a:spcPts val="1000"/>
              </a:spcBef>
              <a:buFont typeface="Arial" panose="020B0604020202020204" pitchFamily="34" charset="0"/>
              <a:buNone/>
            </a:pPr>
            <a:r>
              <a:rPr lang="en-US" sz="1400" noProof="1"/>
              <a:t>Các thuộc tính gồm tháng trong năm (biểu thị chu kỳ), lượng điện tiêu thụ thực tế (kWh), và nhiệt độ trung bình tháng ảnh hưởng đến việc sử dụng điều hòa.</a:t>
            </a:r>
          </a:p>
        </p:txBody>
      </p:sp>
      <p:sp>
        <p:nvSpPr>
          <p:cNvPr id="22" name="Content Placeholder 29">
            <a:extLst>
              <a:ext uri="{FF2B5EF4-FFF2-40B4-BE49-F238E27FC236}">
                <a16:creationId xmlns:a16="http://schemas.microsoft.com/office/drawing/2014/main" id="{D0711FEF-DE35-8A56-F394-2417F73FE32E}"/>
              </a:ext>
            </a:extLst>
          </p:cNvPr>
          <p:cNvSpPr txBox="1">
            <a:spLocks/>
          </p:cNvSpPr>
          <p:nvPr>
            <p:custDataLst>
              <p:tags r:id="rId8"/>
            </p:custDataLst>
          </p:nvPr>
        </p:nvSpPr>
        <p:spPr>
          <a:xfrm>
            <a:off x="6667500" y="4543425"/>
            <a:ext cx="5105400" cy="1866901"/>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spcBef>
                <a:spcPts val="1000"/>
              </a:spcBef>
              <a:buFont typeface="Arial" panose="020B0604020202020204" pitchFamily="34" charset="0"/>
              <a:buNone/>
            </a:pPr>
            <a:r>
              <a:rPr lang="en-US" sz="1400" noProof="1"/>
              <a:t>Tháng giúp nhận diện xu hướng theo mùa, lượng kWh thể hiện mức tiêu thụ thực tế, nhiệt độ trung bình là yếu tố chính tác động đến sự thay đổi trong việc dùng điện.</a:t>
            </a:r>
          </a:p>
        </p:txBody>
      </p:sp>
      <p:sp>
        <p:nvSpPr>
          <p:cNvPr id="23" name="Text Placeholder 12">
            <a:extLst>
              <a:ext uri="{FF2B5EF4-FFF2-40B4-BE49-F238E27FC236}">
                <a16:creationId xmlns:a16="http://schemas.microsoft.com/office/drawing/2014/main" id="{1E497FCD-187F-C161-0A2F-4D9D1A6965A2}"/>
              </a:ext>
            </a:extLst>
          </p:cNvPr>
          <p:cNvSpPr txBox="1">
            <a:spLocks/>
          </p:cNvSpPr>
          <p:nvPr>
            <p:custDataLst>
              <p:tags r:id="rId9"/>
            </p:custDataLst>
          </p:nvPr>
        </p:nvSpPr>
        <p:spPr>
          <a:xfrm>
            <a:off x="4772722" y="419099"/>
            <a:ext cx="1773852" cy="18669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000"/>
              </a:spcBef>
              <a:buFont typeface="Arial" panose="020B0604020202020204" pitchFamily="34" charset="0"/>
              <a:buNone/>
            </a:pPr>
            <a:r>
              <a:rPr lang="en-US" b="1" noProof="1">
                <a:latin typeface="+mj-lt"/>
              </a:rPr>
              <a:t>Nguồn dữ liệu</a:t>
            </a:r>
          </a:p>
        </p:txBody>
      </p:sp>
      <p:sp>
        <p:nvSpPr>
          <p:cNvPr id="24" name="Text Placeholder 13">
            <a:extLst>
              <a:ext uri="{FF2B5EF4-FFF2-40B4-BE49-F238E27FC236}">
                <a16:creationId xmlns:a16="http://schemas.microsoft.com/office/drawing/2014/main" id="{67F33DAB-6369-CC10-E3B5-96568F8DA5B7}"/>
              </a:ext>
            </a:extLst>
          </p:cNvPr>
          <p:cNvSpPr txBox="1">
            <a:spLocks/>
          </p:cNvSpPr>
          <p:nvPr>
            <p:custDataLst>
              <p:tags r:id="rId10"/>
            </p:custDataLst>
          </p:nvPr>
        </p:nvSpPr>
        <p:spPr>
          <a:xfrm>
            <a:off x="4772722" y="2481262"/>
            <a:ext cx="1773852" cy="18669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000"/>
              </a:spcBef>
              <a:buFont typeface="Arial" panose="020B0604020202020204" pitchFamily="34" charset="0"/>
              <a:buNone/>
            </a:pPr>
            <a:r>
              <a:rPr lang="en-US" b="1" noProof="1">
                <a:latin typeface="+mj-lt"/>
              </a:rPr>
              <a:t>Thuộc tính dữ liệu chính</a:t>
            </a:r>
          </a:p>
        </p:txBody>
      </p:sp>
      <p:sp>
        <p:nvSpPr>
          <p:cNvPr id="25" name="Text Placeholder 14">
            <a:extLst>
              <a:ext uri="{FF2B5EF4-FFF2-40B4-BE49-F238E27FC236}">
                <a16:creationId xmlns:a16="http://schemas.microsoft.com/office/drawing/2014/main" id="{60D20C5C-27B4-F912-9155-1692B7D2DE35}"/>
              </a:ext>
            </a:extLst>
          </p:cNvPr>
          <p:cNvSpPr txBox="1">
            <a:spLocks/>
          </p:cNvSpPr>
          <p:nvPr>
            <p:custDataLst>
              <p:tags r:id="rId11"/>
            </p:custDataLst>
          </p:nvPr>
        </p:nvSpPr>
        <p:spPr>
          <a:xfrm>
            <a:off x="4772722" y="4543425"/>
            <a:ext cx="1773852" cy="1866901"/>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1000"/>
              </a:spcBef>
              <a:buFont typeface="Arial" panose="020B0604020202020204" pitchFamily="34" charset="0"/>
              <a:buNone/>
            </a:pPr>
            <a:r>
              <a:rPr lang="en-US" b="1" noProof="1">
                <a:latin typeface="+mj-lt"/>
              </a:rPr>
              <a:t>Ý nghĩa các thuộc tính</a:t>
            </a:r>
          </a:p>
        </p:txBody>
      </p:sp>
      <p:pic>
        <p:nvPicPr>
          <p:cNvPr id="4" name="Picture 3">
            <a:extLst>
              <a:ext uri="{FF2B5EF4-FFF2-40B4-BE49-F238E27FC236}">
                <a16:creationId xmlns:a16="http://schemas.microsoft.com/office/drawing/2014/main" id="{C62F1295-B875-B702-C4CE-F4CD77C89A0C}"/>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80391" y="1544004"/>
            <a:ext cx="3776898" cy="4750111"/>
          </a:xfrm>
          <a:prstGeom prst="rect">
            <a:avLst/>
          </a:prstGeom>
        </p:spPr>
      </p:pic>
    </p:spTree>
    <p:extLst>
      <p:ext uri="{BB962C8B-B14F-4D97-AF65-F5344CB8AC3E}">
        <p14:creationId xmlns:p14="http://schemas.microsoft.com/office/powerpoint/2010/main" val="2374632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1"/>
            </p:custDataLst>
          </p:nvPr>
        </p:nvSpPr>
        <p:spPr/>
        <p:txBody>
          <a:bodyPr lIns="0">
            <a:normAutofit/>
          </a:bodyPr>
          <a:lstStyle/>
          <a:p>
            <a:r>
              <a:rPr lang="en-US" noProof="1"/>
              <a:t>Tiền xử lý dữ liệu</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2"/>
            </p:custDataLst>
          </p:nvPr>
        </p:nvSpPr>
        <p:spPr>
          <a:xfrm>
            <a:off x="419101" y="2545080"/>
            <a:ext cx="3581399" cy="3749040"/>
          </a:xfrm>
        </p:spPr>
        <p:txBody>
          <a:bodyPr lIns="0">
            <a:normAutofit/>
          </a:bodyPr>
          <a:lstStyle/>
          <a:p>
            <a:pPr marL="11113" indent="0">
              <a:lnSpc>
                <a:spcPct val="114000"/>
              </a:lnSpc>
              <a:buNone/>
            </a:pPr>
            <a:r>
              <a:rPr lang="en-US" noProof="1"/>
              <a:t>Xử lý các giá trị trống hoặc không hợp lệ trong bộ dữ liệu để đảm bảo tính chính xác và đầy đủ trước khi phân tích.</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3"/>
            </p:custDataLst>
          </p:nvPr>
        </p:nvSpPr>
        <p:spPr>
          <a:xfrm>
            <a:off x="4305301" y="2545080"/>
            <a:ext cx="3581399" cy="3749040"/>
          </a:xfrm>
        </p:spPr>
        <p:txBody>
          <a:bodyPr lIns="0">
            <a:normAutofit/>
          </a:bodyPr>
          <a:lstStyle/>
          <a:p>
            <a:pPr marL="11113" indent="0">
              <a:lnSpc>
                <a:spcPct val="114000"/>
              </a:lnSpc>
              <a:buNone/>
            </a:pPr>
            <a:r>
              <a:rPr lang="en-US" noProof="1"/>
              <a:t>Đưa dữ liệu về dạng bảng (DataFrame) bằng Pandas để dễ dàng thao tác và sử dụng trong các mô hình học máy.</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4"/>
            </p:custDataLst>
          </p:nvPr>
        </p:nvSpPr>
        <p:spPr>
          <a:xfrm>
            <a:off x="8191500" y="2545080"/>
            <a:ext cx="3581399" cy="3749040"/>
          </a:xfrm>
        </p:spPr>
        <p:txBody>
          <a:bodyPr lIns="0">
            <a:normAutofit/>
          </a:bodyPr>
          <a:lstStyle/>
          <a:p>
            <a:pPr marL="11113" indent="0">
              <a:lnSpc>
                <a:spcPct val="114000"/>
              </a:lnSpc>
              <a:buNone/>
            </a:pPr>
            <a:r>
              <a:rPr lang="en-US" noProof="1"/>
              <a:t>Sử dụng biểu đồ để quan sát sự tương quan giữa nhiệt độ trung bình và lượng điện tiêu thụ, giúp hiểu rõ ảnh hưởng của nhiệt độ đến tiêu thụ điện.</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5"/>
            </p:custDataLst>
          </p:nvPr>
        </p:nvSpPr>
        <p:spPr>
          <a:xfrm>
            <a:off x="419099" y="1905000"/>
            <a:ext cx="3581399" cy="640080"/>
          </a:xfrm>
        </p:spPr>
        <p:txBody>
          <a:bodyPr lIns="0" anchor="t">
            <a:normAutofit/>
          </a:bodyPr>
          <a:lstStyle/>
          <a:p>
            <a:r>
              <a:rPr lang="en-US" sz="1800" noProof="1">
                <a:solidFill>
                  <a:schemeClr val="accent1"/>
                </a:solidFill>
                <a:latin typeface="+mj-lt"/>
              </a:rPr>
              <a:t>Làm sạch dữ liệu</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6"/>
            </p:custDataLst>
          </p:nvPr>
        </p:nvSpPr>
        <p:spPr>
          <a:xfrm>
            <a:off x="4305300" y="1905000"/>
            <a:ext cx="3581399" cy="640080"/>
          </a:xfrm>
        </p:spPr>
        <p:txBody>
          <a:bodyPr lIns="0" anchor="t">
            <a:normAutofit/>
          </a:bodyPr>
          <a:lstStyle/>
          <a:p>
            <a:r>
              <a:rPr lang="en-US" sz="1800" noProof="1">
                <a:solidFill>
                  <a:schemeClr val="accent1"/>
                </a:solidFill>
                <a:latin typeface="+mj-lt"/>
              </a:rPr>
              <a:t>Chuyển đổi dữ liệu</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7"/>
            </p:custDataLst>
          </p:nvPr>
        </p:nvSpPr>
        <p:spPr>
          <a:xfrm>
            <a:off x="8191500" y="1905000"/>
            <a:ext cx="3581399" cy="640080"/>
          </a:xfrm>
        </p:spPr>
        <p:txBody>
          <a:bodyPr lIns="0" anchor="t">
            <a:normAutofit/>
          </a:bodyPr>
          <a:lstStyle/>
          <a:p>
            <a:r>
              <a:rPr lang="en-US" sz="1800" noProof="1">
                <a:solidFill>
                  <a:schemeClr val="accent1"/>
                </a:solidFill>
                <a:latin typeface="+mj-lt"/>
              </a:rPr>
              <a:t>Trực quan hóa dữ liệu</a:t>
            </a:r>
          </a:p>
        </p:txBody>
      </p:sp>
      <p:sp>
        <p:nvSpPr>
          <p:cNvPr id="2" name="Rectangle 1">
            <a:extLst>
              <a:ext uri="{FF2B5EF4-FFF2-40B4-BE49-F238E27FC236}">
                <a16:creationId xmlns:a16="http://schemas.microsoft.com/office/drawing/2014/main" id="{24D452BE-849A-132F-C49B-B04323F71F56}"/>
              </a:ext>
            </a:extLst>
          </p:cNvPr>
          <p:cNvSpPr/>
          <p:nvPr>
            <p:custDataLst>
              <p:tags r:id="rId8"/>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1855347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81D59-8277-3186-0CEE-B326D8DEE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F076B-FB56-5CEE-F1B4-67A1AA56F970}"/>
              </a:ext>
            </a:extLst>
          </p:cNvPr>
          <p:cNvSpPr>
            <a:spLocks noGrp="1"/>
          </p:cNvSpPr>
          <p:nvPr>
            <p:ph type="title"/>
            <p:custDataLst>
              <p:tags r:id="rId2"/>
            </p:custDataLst>
          </p:nvPr>
        </p:nvSpPr>
        <p:spPr/>
        <p:txBody>
          <a:bodyPr lIns="0" anchor="t">
            <a:normAutofit/>
          </a:bodyPr>
          <a:lstStyle/>
          <a:p>
            <a:pPr>
              <a:lnSpc>
                <a:spcPct val="90000"/>
              </a:lnSpc>
            </a:pPr>
            <a:r>
              <a:rPr lang="en-US" noProof="1"/>
              <a:t>Phương pháp thực hiện</a:t>
            </a:r>
          </a:p>
        </p:txBody>
      </p:sp>
      <p:sp>
        <p:nvSpPr>
          <p:cNvPr id="10" name="Rounded Rectangle 9">
            <a:extLst>
              <a:ext uri="{FF2B5EF4-FFF2-40B4-BE49-F238E27FC236}">
                <a16:creationId xmlns:a16="http://schemas.microsoft.com/office/drawing/2014/main" id="{5D8A0E0D-300C-7199-E96B-0DE46F796C34}"/>
              </a:ext>
            </a:extLst>
          </p:cNvPr>
          <p:cNvSpPr/>
          <p:nvPr/>
        </p:nvSpPr>
        <p:spPr>
          <a:xfrm>
            <a:off x="6172199" y="1485899"/>
            <a:ext cx="5600700" cy="4813036"/>
          </a:xfrm>
          <a:prstGeom prst="roundRect">
            <a:avLst>
              <a:gd name="adj" fmla="val 191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11" name="Content Placeholder 3">
            <a:extLst>
              <a:ext uri="{FF2B5EF4-FFF2-40B4-BE49-F238E27FC236}">
                <a16:creationId xmlns:a16="http://schemas.microsoft.com/office/drawing/2014/main" id="{C148A688-9C4E-0540-9C26-B80A262E5B37}"/>
              </a:ext>
            </a:extLst>
          </p:cNvPr>
          <p:cNvSpPr txBox="1">
            <a:spLocks/>
          </p:cNvSpPr>
          <p:nvPr>
            <p:custDataLst>
              <p:tags r:id="rId3"/>
            </p:custDataLst>
          </p:nvPr>
        </p:nvSpPr>
        <p:spPr>
          <a:xfrm>
            <a:off x="6240464" y="2073963"/>
            <a:ext cx="5532436" cy="4217507"/>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84163">
              <a:lnSpc>
                <a:spcPct val="114000"/>
              </a:lnSpc>
              <a:buClr>
                <a:schemeClr val="accent1"/>
              </a:buClr>
            </a:pPr>
            <a:r>
              <a:rPr lang="en-US" noProof="1"/>
              <a:t>Sử dụng hồi quy tuyến tính đơn giản và hiệu quả cho bài toán dự báo.</a:t>
            </a:r>
          </a:p>
          <a:p>
            <a:pPr marL="407988" indent="-284163">
              <a:lnSpc>
                <a:spcPct val="114000"/>
              </a:lnSpc>
              <a:buClr>
                <a:schemeClr val="accent1"/>
              </a:buClr>
            </a:pPr>
            <a:r>
              <a:rPr lang="en-US" noProof="1"/>
              <a:t>Công thức mô hình kết hợp tháng và nhiệt độ làm biến độc lập.</a:t>
            </a:r>
          </a:p>
          <a:p>
            <a:pPr marL="407988" indent="-284163">
              <a:lnSpc>
                <a:spcPct val="114000"/>
              </a:lnSpc>
              <a:buClr>
                <a:schemeClr val="accent1"/>
              </a:buClr>
            </a:pPr>
            <a:r>
              <a:rPr lang="en-US" noProof="1"/>
              <a:t>Python làm ngôn ngữ chính, tận dụng thư viện Scikit-learn và Pandas.</a:t>
            </a:r>
          </a:p>
          <a:p>
            <a:pPr marL="407988" indent="-284163">
              <a:lnSpc>
                <a:spcPct val="114000"/>
              </a:lnSpc>
              <a:buClr>
                <a:schemeClr val="accent1"/>
              </a:buClr>
            </a:pPr>
            <a:r>
              <a:rPr lang="en-US" noProof="1"/>
              <a:t>Mô hình dễ mở rộng và điều chỉnh với các biến mới nếu cần.</a:t>
            </a:r>
          </a:p>
        </p:txBody>
      </p:sp>
      <p:sp>
        <p:nvSpPr>
          <p:cNvPr id="12" name="Text Placeholder 6">
            <a:extLst>
              <a:ext uri="{FF2B5EF4-FFF2-40B4-BE49-F238E27FC236}">
                <a16:creationId xmlns:a16="http://schemas.microsoft.com/office/drawing/2014/main" id="{56A349CB-66A8-D5F3-1F54-7CD2534F3AB0}"/>
              </a:ext>
            </a:extLst>
          </p:cNvPr>
          <p:cNvSpPr txBox="1">
            <a:spLocks/>
          </p:cNvSpPr>
          <p:nvPr>
            <p:custDataLst>
              <p:tags r:id="rId4"/>
            </p:custDataLst>
          </p:nvPr>
        </p:nvSpPr>
        <p:spPr>
          <a:xfrm>
            <a:off x="6240463" y="1654863"/>
            <a:ext cx="5532436" cy="419100"/>
          </a:xfrm>
          <a:prstGeom prst="rect">
            <a:avLst/>
          </a:prstGeom>
        </p:spPr>
        <p:txBody>
          <a:bodyPr vert="horz" lIns="91440" tIns="45720" rIns="91440" bIns="45720" rtlCol="0" anchor="t">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b="1" noProof="1">
                <a:solidFill>
                  <a:schemeClr val="accent1"/>
                </a:solidFill>
                <a:latin typeface="+mj-lt"/>
              </a:rPr>
              <a:t>Chi tiết phương pháp</a:t>
            </a:r>
          </a:p>
        </p:txBody>
      </p:sp>
      <p:sp>
        <p:nvSpPr>
          <p:cNvPr id="13" name="TextBox 12">
            <a:extLst>
              <a:ext uri="{FF2B5EF4-FFF2-40B4-BE49-F238E27FC236}">
                <a16:creationId xmlns:a16="http://schemas.microsoft.com/office/drawing/2014/main" id="{5761D6BD-BB1C-46A5-EC86-985C1C04005E}"/>
              </a:ext>
            </a:extLst>
          </p:cNvPr>
          <p:cNvSpPr txBox="1"/>
          <p:nvPr>
            <p:custDataLst>
              <p:tags r:id="rId5"/>
            </p:custDataLst>
          </p:nvPr>
        </p:nvSpPr>
        <p:spPr>
          <a:xfrm>
            <a:off x="419099" y="1485899"/>
            <a:ext cx="5600700" cy="1393067"/>
          </a:xfrm>
          <a:prstGeom prst="rect">
            <a:avLst/>
          </a:prstGeom>
          <a:noFill/>
        </p:spPr>
        <p:txBody>
          <a:bodyPr wrap="square" lIns="0">
            <a:noAutofit/>
          </a:bodyPr>
          <a:lstStyle/>
          <a:p>
            <a:pPr rtl="0">
              <a:lnSpc>
                <a:spcPct val="113000"/>
              </a:lnSpc>
              <a:spcAft>
                <a:spcPts val="800"/>
              </a:spcAft>
              <a:buNone/>
            </a:pPr>
            <a:r>
              <a:rPr lang="en-US" sz="1600" b="0" i="0" u="none" strike="noStrike" noProof="1">
                <a:solidFill>
                  <a:schemeClr val="tx2"/>
                </a:solidFill>
                <a:effectLst/>
              </a:rPr>
              <a:t>Hồi quy tuyến tính cho phép dự báo lượng điện tiêu thụ dựa trên tháng và nhiệt độ, sử dụng Python và thư viện Scikit-learn để triển khai mô hình hiệu quả.</a:t>
            </a:r>
          </a:p>
        </p:txBody>
      </p:sp>
      <p:sp>
        <p:nvSpPr>
          <p:cNvPr id="14" name="Content Placeholder 9">
            <a:extLst>
              <a:ext uri="{FF2B5EF4-FFF2-40B4-BE49-F238E27FC236}">
                <a16:creationId xmlns:a16="http://schemas.microsoft.com/office/drawing/2014/main" id="{19ADF16E-0C81-E23E-02AD-D9CB0C1B9FE2}"/>
              </a:ext>
            </a:extLst>
          </p:cNvPr>
          <p:cNvSpPr txBox="1">
            <a:spLocks/>
          </p:cNvSpPr>
          <p:nvPr>
            <p:custDataLst>
              <p:tags r:id="rId6"/>
            </p:custDataLst>
          </p:nvPr>
        </p:nvSpPr>
        <p:spPr>
          <a:xfrm>
            <a:off x="494522" y="2752531"/>
            <a:ext cx="5525278" cy="3538939"/>
          </a:xfrm>
          <a:prstGeom prst="rect">
            <a:avLst/>
          </a:prstGeom>
        </p:spPr>
        <p:txBody>
          <a:bodyPr lIns="0">
            <a:normAutofit fontScale="25000" lnSpcReduction="2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14000"/>
              </a:lnSpc>
              <a:buNone/>
            </a:pPr>
            <a:r>
              <a:rPr lang="en-US" sz="6400" noProof="1"/>
              <a:t>Chúng thụ dựa trên hai biến đầu vào: tháng trong năm và nhiệt độ trung bình tôi sử dụng thuật toán hồi quy tuyến tính để dự báo lượng điện tiêu h. </a:t>
            </a:r>
            <a:r>
              <a:rPr lang="vi-VN" sz="6400" noProof="1"/>
              <a:t>Được tính bằng công thức:</a:t>
            </a:r>
          </a:p>
          <a:p>
            <a:pPr marL="11113" indent="0">
              <a:lnSpc>
                <a:spcPct val="114000"/>
              </a:lnSpc>
              <a:buNone/>
            </a:pPr>
            <a:r>
              <a:rPr lang="vi-VN" sz="6400" noProof="1"/>
              <a:t>Y= </a:t>
            </a:r>
            <a:r>
              <a:rPr lang="el-GR" sz="6400" noProof="1"/>
              <a:t>β </a:t>
            </a:r>
            <a:r>
              <a:rPr lang="vi-VN" sz="6400" noProof="1"/>
              <a:t>1*x1</a:t>
            </a:r>
            <a:r>
              <a:rPr lang="el-GR" sz="6400" noProof="1"/>
              <a:t>+β </a:t>
            </a:r>
            <a:r>
              <a:rPr lang="vi-VN" sz="6400" noProof="1"/>
              <a:t>2*x2+</a:t>
            </a:r>
            <a:r>
              <a:rPr lang="el-GR" sz="6400" noProof="1"/>
              <a:t>β</a:t>
            </a:r>
            <a:r>
              <a:rPr lang="vi-VN" sz="6400" noProof="1"/>
              <a:t>0</a:t>
            </a:r>
            <a:endParaRPr lang="el-GR" sz="6400" noProof="1"/>
          </a:p>
          <a:p>
            <a:pPr marL="11113" indent="0">
              <a:lnSpc>
                <a:spcPct val="114000"/>
              </a:lnSpc>
              <a:buNone/>
            </a:pPr>
            <a:r>
              <a:rPr lang="vi-VN" sz="6400" noProof="1"/>
              <a:t>Trong đó:</a:t>
            </a:r>
          </a:p>
          <a:p>
            <a:pPr marL="11113" indent="0">
              <a:lnSpc>
                <a:spcPct val="114000"/>
              </a:lnSpc>
              <a:buNone/>
            </a:pPr>
            <a:r>
              <a:rPr lang="vi-VN" sz="6400" noProof="1"/>
              <a:t>𝑌</a:t>
            </a:r>
            <a:r>
              <a:rPr lang="vi-VN" sz="5600" noProof="1"/>
              <a:t>: Lượng điện tiêu thụ cần dự báo (kWh).</a:t>
            </a:r>
          </a:p>
          <a:p>
            <a:pPr marL="11113" indent="0">
              <a:lnSpc>
                <a:spcPct val="114000"/>
              </a:lnSpc>
              <a:buNone/>
            </a:pPr>
            <a:r>
              <a:rPr lang="vi-VN" sz="5600" noProof="1"/>
              <a:t>X1: Chỉ số tháng. Nó đại diện cho xu hướng tăng trưởng dài hạn</a:t>
            </a:r>
          </a:p>
          <a:p>
            <a:pPr marL="11113" indent="0">
              <a:lnSpc>
                <a:spcPct val="114000"/>
              </a:lnSpc>
              <a:buNone/>
            </a:pPr>
            <a:r>
              <a:rPr lang="vi-VN" sz="5600" noProof="1"/>
              <a:t>X2: Nhiệt độ trung bình. Đây là biến gây biến động mạnh nhất.</a:t>
            </a:r>
          </a:p>
          <a:p>
            <a:pPr marL="11113" indent="0">
              <a:lnSpc>
                <a:spcPct val="114000"/>
              </a:lnSpc>
              <a:buNone/>
            </a:pPr>
            <a:r>
              <a:rPr lang="el-GR" sz="5600" noProof="1"/>
              <a:t>β </a:t>
            </a:r>
            <a:r>
              <a:rPr lang="vi-VN" sz="5600" noProof="1"/>
              <a:t>1,</a:t>
            </a:r>
            <a:r>
              <a:rPr lang="el-GR" sz="5600" noProof="1"/>
              <a:t> β </a:t>
            </a:r>
            <a:r>
              <a:rPr lang="vi-VN" sz="5600" noProof="1"/>
              <a:t>2:Các hệ số hồi quy (Coefficients). Nó cho biết khi nhiệt độ tăng 1°C thì số điện tăng bao nhiêu.</a:t>
            </a:r>
          </a:p>
          <a:p>
            <a:pPr marL="11113" indent="0">
              <a:lnSpc>
                <a:spcPct val="114000"/>
              </a:lnSpc>
              <a:buNone/>
            </a:pPr>
            <a:r>
              <a:rPr lang="el-GR" sz="5600" noProof="1"/>
              <a:t>β</a:t>
            </a:r>
            <a:r>
              <a:rPr lang="vi-VN" sz="5600" noProof="1"/>
              <a:t>0</a:t>
            </a:r>
            <a:r>
              <a:rPr lang="el-GR" sz="5600" noProof="1"/>
              <a:t> </a:t>
            </a:r>
            <a:r>
              <a:rPr lang="vi-VN" sz="5600" noProof="1"/>
              <a:t>:Sai số chặn (Intercept). Lượng điện tiêu thụ cơ bản ngay cả khi các biến bằng 0</a:t>
            </a:r>
            <a:endParaRPr lang="en-US" sz="5600" noProof="1"/>
          </a:p>
          <a:p>
            <a:pPr marL="11113" indent="0">
              <a:lnSpc>
                <a:spcPct val="114000"/>
              </a:lnSpc>
              <a:buNone/>
            </a:pPr>
            <a:endParaRPr lang="en-US" noProof="1"/>
          </a:p>
        </p:txBody>
      </p:sp>
      <p:sp>
        <p:nvSpPr>
          <p:cNvPr id="15" name="Text Placeholder 12">
            <a:extLst>
              <a:ext uri="{FF2B5EF4-FFF2-40B4-BE49-F238E27FC236}">
                <a16:creationId xmlns:a16="http://schemas.microsoft.com/office/drawing/2014/main" id="{C3096186-9314-FB54-C994-50070463A78C}"/>
              </a:ext>
            </a:extLst>
          </p:cNvPr>
          <p:cNvSpPr txBox="1">
            <a:spLocks/>
          </p:cNvSpPr>
          <p:nvPr>
            <p:custDataLst>
              <p:tags r:id="rId7"/>
            </p:custDataLst>
          </p:nvPr>
        </p:nvSpPr>
        <p:spPr>
          <a:xfrm>
            <a:off x="419100" y="2438263"/>
            <a:ext cx="5600699" cy="440703"/>
          </a:xfrm>
          <a:prstGeom prst="rect">
            <a:avLst/>
          </a:prstGeom>
        </p:spPr>
        <p:txBody>
          <a:bodyPr vert="horz" lIns="0" tIns="45720" rIns="91440" bIns="45720" rtlCol="0" anchor="t">
            <a:normAutofit/>
          </a:bodyPr>
          <a:lstStyle>
            <a:defPPr>
              <a:defRPr lang="en-US"/>
            </a:defPPr>
            <a:lvl1pPr indent="0" defTabSz="914354">
              <a:lnSpc>
                <a:spcPct val="100000"/>
              </a:lnSpc>
              <a:spcBef>
                <a:spcPts val="1200"/>
              </a:spcBef>
              <a:buFont typeface="Arial" panose="020B0604020202020204" pitchFamily="34" charset="0"/>
              <a:buNone/>
              <a:tabLst/>
              <a:defRPr b="1">
                <a:solidFill>
                  <a:schemeClr val="accent1"/>
                </a:solidFill>
                <a:latin typeface="+mj-lt"/>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noProof="1"/>
              <a:t>Thuật toán và công cụ</a:t>
            </a:r>
          </a:p>
        </p:txBody>
      </p:sp>
    </p:spTree>
    <p:custDataLst>
      <p:tags r:id="rId1"/>
    </p:custDataLst>
    <p:extLst>
      <p:ext uri="{BB962C8B-B14F-4D97-AF65-F5344CB8AC3E}">
        <p14:creationId xmlns:p14="http://schemas.microsoft.com/office/powerpoint/2010/main" val="302504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419100" y="629392"/>
            <a:ext cx="11353800" cy="622300"/>
          </a:xfrm>
        </p:spPr>
        <p:txBody>
          <a:bodyPr lIns="0"/>
          <a:lstStyle/>
          <a:p>
            <a:r>
              <a:rPr lang="en-US" noProof="1"/>
              <a:t>Logic tính toán tiền điện EVN</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2"/>
            </p:custDataLst>
          </p:nvPr>
        </p:nvSpPr>
        <p:spPr>
          <a:xfrm>
            <a:off x="419098" y="1828800"/>
            <a:ext cx="5600700" cy="548640"/>
          </a:xfrm>
        </p:spPr>
        <p:txBody>
          <a:bodyPr vert="horz" lIns="0" tIns="45720" rIns="91440" bIns="45720" rtlCol="0">
            <a:normAutofit/>
          </a:bodyPr>
          <a:lstStyle/>
          <a:p>
            <a:pPr marL="11111" indent="0">
              <a:buNone/>
            </a:pPr>
            <a:r>
              <a:rPr lang="en-US" sz="2000" b="1" noProof="1">
                <a:latin typeface="+mj-lt"/>
              </a:rPr>
              <a:t>Biểu giá điện 6 bậc mới của EVN</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3"/>
            </p:custDataLst>
          </p:nvPr>
        </p:nvSpPr>
        <p:spPr>
          <a:xfrm>
            <a:off x="419099" y="2448910"/>
            <a:ext cx="5600700" cy="3837590"/>
          </a:xfrm>
        </p:spPr>
        <p:txBody>
          <a:bodyPr vert="horz" lIns="0" tIns="45720" rIns="91440" bIns="45720" rtlCol="0" anchor="t">
            <a:normAutofit/>
          </a:bodyPr>
          <a:lstStyle/>
          <a:p>
            <a:pPr marL="407988" indent="-284163">
              <a:lnSpc>
                <a:spcPct val="114000"/>
              </a:lnSpc>
              <a:buClr>
                <a:schemeClr val="accent1"/>
              </a:buClr>
            </a:pPr>
            <a:r>
              <a:rPr lang="en-US" noProof="1"/>
              <a:t>Chi phí điện được tính theo 6 bậc thang, mỗi bậc có mức giá khác nhau.</a:t>
            </a:r>
          </a:p>
          <a:p>
            <a:pPr marL="407988" indent="-284163">
              <a:lnSpc>
                <a:spcPct val="114000"/>
              </a:lnSpc>
              <a:buClr>
                <a:schemeClr val="accent1"/>
              </a:buClr>
            </a:pPr>
            <a:r>
              <a:rPr lang="en-US" noProof="1"/>
              <a:t>Bậc 1 áp dụng cho mức tiêu thụ thấp nhất, bậc 6 cho mức tiêu thụ cao nhất.</a:t>
            </a:r>
          </a:p>
          <a:p>
            <a:pPr marL="407988" indent="-284163">
              <a:lnSpc>
                <a:spcPct val="114000"/>
              </a:lnSpc>
              <a:buClr>
                <a:schemeClr val="accent1"/>
              </a:buClr>
            </a:pPr>
            <a:r>
              <a:rPr lang="en-US" noProof="1"/>
              <a:t>Giá điện tăng dần theo lượng kWh tiêu thụ, phản ánh việc sử dụng tiết kiệm năng lượng.</a:t>
            </a:r>
          </a:p>
          <a:p>
            <a:pPr marL="407988" indent="-284163">
              <a:lnSpc>
                <a:spcPct val="114000"/>
              </a:lnSpc>
              <a:buClr>
                <a:schemeClr val="accent1"/>
              </a:buClr>
            </a:pPr>
            <a:r>
              <a:rPr lang="en-US" noProof="1"/>
              <a:t>Biểu giá này giúp khuyến khích người dùng tiết kiệm điện và quản lý chi phí hợp lý.</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4"/>
            </p:custDataLst>
          </p:nvPr>
        </p:nvSpPr>
        <p:spPr>
          <a:xfrm>
            <a:off x="6172198" y="1841500"/>
            <a:ext cx="5600700" cy="548640"/>
          </a:xfrm>
        </p:spPr>
        <p:txBody>
          <a:bodyPr vert="horz" lIns="0" tIns="45720" rIns="91440" bIns="45720" rtlCol="0">
            <a:normAutofit/>
          </a:bodyPr>
          <a:lstStyle/>
          <a:p>
            <a:pPr marL="11111" indent="0">
              <a:buNone/>
            </a:pPr>
            <a:r>
              <a:rPr lang="en-US" sz="2000" b="1" noProof="1">
                <a:latin typeface="+mj-lt"/>
              </a:rPr>
              <a:t>Công thức tính tiền điện và thuế VAT</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6172199" y="2448910"/>
            <a:ext cx="5600700" cy="3837590"/>
          </a:xfrm>
        </p:spPr>
        <p:txBody>
          <a:bodyPr vert="horz" lIns="0" tIns="45720" rIns="91440" bIns="45720" rtlCol="0" anchor="t">
            <a:normAutofit/>
          </a:bodyPr>
          <a:lstStyle/>
          <a:p>
            <a:pPr marL="407988" indent="-284163">
              <a:lnSpc>
                <a:spcPct val="114000"/>
              </a:lnSpc>
              <a:buClr>
                <a:schemeClr val="accent1"/>
              </a:buClr>
            </a:pPr>
            <a:r>
              <a:rPr lang="en-US" noProof="1"/>
              <a:t>Tiền điện = Tổng kWh tiêu thụ từng bậc × Giá tương ứng từng bậc.</a:t>
            </a:r>
          </a:p>
          <a:p>
            <a:pPr marL="407988" indent="-284163">
              <a:lnSpc>
                <a:spcPct val="114000"/>
              </a:lnSpc>
              <a:buClr>
                <a:schemeClr val="accent1"/>
              </a:buClr>
            </a:pPr>
            <a:r>
              <a:rPr lang="en-US" noProof="1"/>
              <a:t>Tổng tiền điện sau đó cộng thêm thuế VAT 8% hoặc 10% tùy quy định hiện hành.</a:t>
            </a:r>
          </a:p>
          <a:p>
            <a:pPr marL="407988" indent="-284163">
              <a:lnSpc>
                <a:spcPct val="114000"/>
              </a:lnSpc>
              <a:buClr>
                <a:schemeClr val="accent1"/>
              </a:buClr>
            </a:pPr>
            <a:r>
              <a:rPr lang="en-US" noProof="1"/>
              <a:t>Việc tính từng bậc và thuế VAT đảm bảo chi phí phản ánh đúng mức độ sử dụng thực tế.</a:t>
            </a:r>
          </a:p>
          <a:p>
            <a:pPr marL="407988" indent="-284163">
              <a:lnSpc>
                <a:spcPct val="114000"/>
              </a:lnSpc>
              <a:buClr>
                <a:schemeClr val="accent1"/>
              </a:buClr>
            </a:pPr>
            <a:r>
              <a:rPr lang="en-US" noProof="1"/>
              <a:t>Đây là phần logic quan trọng giúp mô hình dự báo chi phí sát với thực tế.</a:t>
            </a:r>
          </a:p>
        </p:txBody>
      </p:sp>
      <p:pic>
        <p:nvPicPr>
          <p:cNvPr id="6" name="Graphic 5">
            <a:extLst>
              <a:ext uri="{FF2B5EF4-FFF2-40B4-BE49-F238E27FC236}">
                <a16:creationId xmlns:a16="http://schemas.microsoft.com/office/drawing/2014/main" id="{39F4CCD5-D1C1-E5DE-F1FA-00C6682F666D}"/>
              </a:ext>
            </a:extLst>
          </p:cNvPr>
          <p:cNvPicPr>
            <a:picLocks noChangeAspect="1"/>
          </p:cNvPicPr>
          <p:nvPr>
            <p:custDataLst>
              <p:tags r:id="rId6"/>
            </p:custDataLst>
          </p:nvPr>
        </p:nvPicPr>
        <p:blipFill>
          <a:blip r:embed="rId11">
            <a:extLst>
              <a:ext uri="{96DAC541-7B7A-43D3-8B79-37D633B846F1}">
                <asvg:svgBlip xmlns:asvg="http://schemas.microsoft.com/office/drawing/2016/SVG/main" r:embed="rId12"/>
              </a:ext>
            </a:extLst>
          </a:blip>
          <a:stretch>
            <a:fillRect/>
          </a:stretch>
        </p:blipFill>
        <p:spPr>
          <a:xfrm>
            <a:off x="419098" y="1485900"/>
            <a:ext cx="320040" cy="320040"/>
          </a:xfrm>
          <a:prstGeom prst="rect">
            <a:avLst/>
          </a:prstGeom>
        </p:spPr>
      </p:pic>
      <p:pic>
        <p:nvPicPr>
          <p:cNvPr id="9" name="Graphic 8">
            <a:extLst>
              <a:ext uri="{FF2B5EF4-FFF2-40B4-BE49-F238E27FC236}">
                <a16:creationId xmlns:a16="http://schemas.microsoft.com/office/drawing/2014/main" id="{24C67AF2-3477-A971-9195-BD7CEC6E43F9}"/>
              </a:ext>
            </a:extLst>
          </p:cNvPr>
          <p:cNvPicPr>
            <a:picLocks noChangeAspect="1"/>
          </p:cNvPicPr>
          <p:nvPr>
            <p:custDataLst>
              <p:tags r:id="rId7"/>
            </p:custDataLst>
          </p:nvPr>
        </p:nvPicPr>
        <p:blipFill>
          <a:blip r:embed="rId13">
            <a:extLst>
              <a:ext uri="{96DAC541-7B7A-43D3-8B79-37D633B846F1}">
                <asvg:svgBlip xmlns:asvg="http://schemas.microsoft.com/office/drawing/2016/SVG/main" r:embed="rId14"/>
              </a:ext>
            </a:extLst>
          </a:blip>
          <a:stretch>
            <a:fillRect/>
          </a:stretch>
        </p:blipFill>
        <p:spPr>
          <a:xfrm>
            <a:off x="6172200" y="1485900"/>
            <a:ext cx="320040" cy="320040"/>
          </a:xfrm>
          <a:prstGeom prst="rect">
            <a:avLst/>
          </a:prstGeom>
        </p:spPr>
      </p:pic>
      <p:sp>
        <p:nvSpPr>
          <p:cNvPr id="5" name="Rectangle 4">
            <a:extLst>
              <a:ext uri="{FF2B5EF4-FFF2-40B4-BE49-F238E27FC236}">
                <a16:creationId xmlns:a16="http://schemas.microsoft.com/office/drawing/2014/main" id="{E3F403A0-6997-F796-C62F-608963E77F33}"/>
              </a:ext>
            </a:extLst>
          </p:cNvPr>
          <p:cNvSpPr/>
          <p:nvPr>
            <p:custDataLst>
              <p:tags r:id="rId8"/>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TextBox 9">
            <a:extLst>
              <a:ext uri="{FF2B5EF4-FFF2-40B4-BE49-F238E27FC236}">
                <a16:creationId xmlns:a16="http://schemas.microsoft.com/office/drawing/2014/main" id="{24EAB6D9-B4EF-D1A6-99ED-1421720275EA}"/>
              </a:ext>
            </a:extLst>
          </p:cNvPr>
          <p:cNvSpPr txBox="1"/>
          <p:nvPr>
            <p:custDataLst>
              <p:tags r:id="rId9"/>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Tính toán tiền điện</a:t>
            </a:r>
          </a:p>
        </p:txBody>
      </p:sp>
    </p:spTree>
    <p:extLst>
      <p:ext uri="{BB962C8B-B14F-4D97-AF65-F5344CB8AC3E}">
        <p14:creationId xmlns:p14="http://schemas.microsoft.com/office/powerpoint/2010/main" val="23436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1E94-D982-DA8D-F13E-5ED0771F7046}"/>
              </a:ext>
            </a:extLst>
          </p:cNvPr>
          <p:cNvSpPr>
            <a:spLocks noGrp="1"/>
          </p:cNvSpPr>
          <p:nvPr>
            <p:ph type="title"/>
          </p:nvPr>
        </p:nvSpPr>
        <p:spPr>
          <a:xfrm>
            <a:off x="353786" y="246837"/>
            <a:ext cx="8510296" cy="627908"/>
          </a:xfrm>
        </p:spPr>
        <p:txBody>
          <a:bodyPr>
            <a:normAutofit/>
          </a:bodyPr>
          <a:lstStyle/>
          <a:p>
            <a:r>
              <a:rPr lang="vi-VN" sz="2000" b="0" dirty="0"/>
              <a:t>Giá của kWh thay đổi tùy thuộc vào mức tiêu thụ điện theo bảng dưới đây:</a:t>
            </a:r>
            <a:endParaRPr lang="vi-VN" sz="2000" dirty="0"/>
          </a:p>
        </p:txBody>
      </p:sp>
      <p:pic>
        <p:nvPicPr>
          <p:cNvPr id="1026" name="Picture 2" descr="Tìm hiểu Kilowatt giờ (kWh) là gì cách tính hóa đơn tiền điện? 1">
            <a:extLst>
              <a:ext uri="{FF2B5EF4-FFF2-40B4-BE49-F238E27FC236}">
                <a16:creationId xmlns:a16="http://schemas.microsoft.com/office/drawing/2014/main" id="{0EBEB06E-CC49-ED95-75A4-1FE8CCE7DC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1285875"/>
            <a:ext cx="66675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7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11">
            <a:extLst>
              <a:ext uri="{FF2B5EF4-FFF2-40B4-BE49-F238E27FC236}">
                <a16:creationId xmlns:a16="http://schemas.microsoft.com/office/drawing/2014/main" id="{0A9DFCB9-511A-951E-DB04-F99209E1A7A8}"/>
              </a:ext>
            </a:extLst>
          </p:cNvPr>
          <p:cNvPicPr>
            <a:picLocks/>
          </p:cNvPicPr>
          <p:nvPr>
            <p:custDataLst>
              <p:tags r:id="rId1"/>
            </p:custDataLst>
          </p:nvPr>
        </p:nvPicPr>
        <p:blipFill rotWithShape="1">
          <a:blip r:embed="rId10" cstate="screen">
            <a:extLst>
              <a:ext uri="{28A0092B-C50C-407E-A947-70E740481C1C}">
                <a14:useLocalDpi xmlns:a14="http://schemas.microsoft.com/office/drawing/2010/main"/>
              </a:ext>
            </a:extLst>
          </a:blip>
          <a:srcRect t="1678" b="1678"/>
          <a:stretch/>
        </p:blipFill>
        <p:spPr>
          <a:xfrm>
            <a:off x="419100" y="3992388"/>
            <a:ext cx="3576828" cy="2304515"/>
          </a:xfrm>
          <a:prstGeom prst="roundRect">
            <a:avLst>
              <a:gd name="adj" fmla="val 1903"/>
            </a:avLst>
          </a:prstGeom>
        </p:spPr>
      </p:pic>
      <p:pic>
        <p:nvPicPr>
          <p:cNvPr id="7" name="Picture Placeholder 9">
            <a:extLst>
              <a:ext uri="{FF2B5EF4-FFF2-40B4-BE49-F238E27FC236}">
                <a16:creationId xmlns:a16="http://schemas.microsoft.com/office/drawing/2014/main" id="{23A5C112-905B-4EAD-2200-2A8CF9A9E3C3}"/>
              </a:ext>
            </a:extLst>
          </p:cNvPr>
          <p:cNvPicPr>
            <a:picLocks/>
          </p:cNvPicPr>
          <p:nvPr>
            <p:custDataLst>
              <p:tags r:id="rId2"/>
            </p:custDataLst>
          </p:nvPr>
        </p:nvPicPr>
        <p:blipFill rotWithShape="1">
          <a:blip r:embed="rId11" cstate="screen">
            <a:extLst>
              <a:ext uri="{28A0092B-C50C-407E-A947-70E740481C1C}">
                <a14:useLocalDpi xmlns:a14="http://schemas.microsoft.com/office/drawing/2010/main"/>
              </a:ext>
            </a:extLst>
          </a:blip>
          <a:srcRect t="1678" b="1678"/>
          <a:stretch/>
        </p:blipFill>
        <p:spPr>
          <a:xfrm>
            <a:off x="419100" y="1485900"/>
            <a:ext cx="3576828" cy="2304515"/>
          </a:xfrm>
          <a:prstGeom prst="roundRect">
            <a:avLst>
              <a:gd name="adj" fmla="val 1903"/>
            </a:avLst>
          </a:prstGeom>
        </p:spPr>
      </p:pic>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3"/>
            </p:custDataLst>
          </p:nvPr>
        </p:nvSpPr>
        <p:spPr/>
        <p:txBody>
          <a:bodyPr lIns="0">
            <a:normAutofit/>
          </a:bodyPr>
          <a:lstStyle/>
          <a:p>
            <a:r>
              <a:rPr lang="en-US" noProof="1"/>
              <a:t>Kết quả dự báo</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sz="half" idx="4294967295"/>
            <p:custDataLst>
              <p:tags r:id="rId4"/>
            </p:custDataLst>
          </p:nvPr>
        </p:nvSpPr>
        <p:spPr>
          <a:xfrm>
            <a:off x="6421821" y="1485900"/>
            <a:ext cx="5351079" cy="2322576"/>
          </a:xfrm>
        </p:spPr>
        <p:txBody>
          <a:bodyPr vert="horz" lIns="91440" tIns="45720" rIns="91440" bIns="45720" rtlCol="0">
            <a:normAutofit/>
          </a:bodyPr>
          <a:lstStyle/>
          <a:p>
            <a:pPr marL="11113" indent="0">
              <a:lnSpc>
                <a:spcPct val="114000"/>
              </a:lnSpc>
              <a:spcBef>
                <a:spcPts val="1000"/>
              </a:spcBef>
              <a:buNone/>
            </a:pPr>
            <a:r>
              <a:rPr lang="en-US" noProof="1"/>
              <a:t>Bảng số liệu dự báo lượng điện tiêu thụ (kWh) và chi phí tiền điện cho 3 tháng tiếp theo, dựa trên mô hình hồi quy tuyến tính với dữ liệu thực tế 2 năm.</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half" idx="4294967295"/>
            <p:custDataLst>
              <p:tags r:id="rId5"/>
            </p:custDataLst>
          </p:nvPr>
        </p:nvSpPr>
        <p:spPr>
          <a:xfrm>
            <a:off x="6421821" y="3992388"/>
            <a:ext cx="5351079" cy="2322576"/>
          </a:xfrm>
        </p:spPr>
        <p:txBody>
          <a:bodyPr vert="horz" lIns="91440" tIns="45720" rIns="91440" bIns="45720" rtlCol="0">
            <a:normAutofit/>
          </a:bodyPr>
          <a:lstStyle/>
          <a:p>
            <a:pPr marL="11113" indent="0">
              <a:lnSpc>
                <a:spcPct val="114000"/>
              </a:lnSpc>
              <a:spcBef>
                <a:spcPts val="1000"/>
              </a:spcBef>
              <a:buNone/>
            </a:pPr>
            <a:r>
              <a:rPr lang="en-US" noProof="1"/>
              <a:t>Biểu đồ đường thể hiện sự khác biệt giữa lượng điện thực tế và dự báo trong 24 tháng qua, giúp đánh giá độ chính xác của mô hình.</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6"/>
            </p:custDataLst>
          </p:nvPr>
        </p:nvSpPr>
        <p:spPr>
          <a:xfrm>
            <a:off x="4708634" y="1485900"/>
            <a:ext cx="1554480" cy="2322576"/>
          </a:xfrm>
        </p:spPr>
        <p:txBody>
          <a:bodyPr vert="horz" lIns="91440" tIns="45720" rIns="91440" bIns="45720" rtlCol="0" anchor="t">
            <a:normAutofit/>
          </a:bodyPr>
          <a:lstStyle/>
          <a:p>
            <a:pPr marL="0" indent="0">
              <a:lnSpc>
                <a:spcPct val="100000"/>
              </a:lnSpc>
              <a:buNone/>
            </a:pPr>
            <a:r>
              <a:rPr lang="en-US" b="1" noProof="1">
                <a:latin typeface="+mj-lt"/>
              </a:rPr>
              <a:t>Bảng dự báo tiêu thụ điện và chi phí</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idx="4294967295"/>
            <p:custDataLst>
              <p:tags r:id="rId7"/>
            </p:custDataLst>
          </p:nvPr>
        </p:nvSpPr>
        <p:spPr>
          <a:xfrm>
            <a:off x="4708634" y="3992388"/>
            <a:ext cx="1554480" cy="2322576"/>
          </a:xfrm>
        </p:spPr>
        <p:txBody>
          <a:bodyPr vert="horz" lIns="91440" tIns="45720" rIns="91440" bIns="45720" rtlCol="0" anchor="t">
            <a:normAutofit/>
          </a:bodyPr>
          <a:lstStyle/>
          <a:p>
            <a:pPr marL="0" indent="0">
              <a:lnSpc>
                <a:spcPct val="100000"/>
              </a:lnSpc>
              <a:buNone/>
            </a:pPr>
            <a:r>
              <a:rPr lang="en-US" b="1" noProof="1">
                <a:latin typeface="+mj-lt"/>
              </a:rPr>
              <a:t>Biểu đồ so sánh thực tế và dự báo</a:t>
            </a:r>
          </a:p>
        </p:txBody>
      </p:sp>
      <p:sp>
        <p:nvSpPr>
          <p:cNvPr id="9" name="Rectangle 8">
            <a:extLst>
              <a:ext uri="{FF2B5EF4-FFF2-40B4-BE49-F238E27FC236}">
                <a16:creationId xmlns:a16="http://schemas.microsoft.com/office/drawing/2014/main" id="{23F8AAAE-F0CD-A285-93FE-2ACCBC7F6C61}"/>
              </a:ext>
            </a:extLst>
          </p:cNvPr>
          <p:cNvSpPr/>
          <p:nvPr>
            <p:custDataLst>
              <p:tags r:id="rId8"/>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14808B35-A7B0-DC39-AD00-11F5B0379F37}"/>
              </a:ext>
            </a:extLst>
          </p:cNvPr>
          <p:cNvSpPr txBox="1"/>
          <p:nvPr/>
        </p:nvSpPr>
        <p:spPr>
          <a:xfrm>
            <a:off x="4283964" y="1485900"/>
            <a:ext cx="517356" cy="350865"/>
          </a:xfrm>
          <a:prstGeom prst="rect">
            <a:avLst/>
          </a:prstGeom>
          <a:noFill/>
        </p:spPr>
        <p:txBody>
          <a:bodyPr wrap="square" tIns="27432" rtlCol="0">
            <a:spAutoFit/>
          </a:bodyPr>
          <a:lstStyle/>
          <a:p>
            <a:r>
              <a:rPr lang="en-US" b="1" noProof="1">
                <a:solidFill>
                  <a:schemeClr val="accent1"/>
                </a:solidFill>
              </a:rPr>
              <a:t>01</a:t>
            </a:r>
          </a:p>
        </p:txBody>
      </p:sp>
      <p:sp>
        <p:nvSpPr>
          <p:cNvPr id="12" name="TextBox 11">
            <a:extLst>
              <a:ext uri="{FF2B5EF4-FFF2-40B4-BE49-F238E27FC236}">
                <a16:creationId xmlns:a16="http://schemas.microsoft.com/office/drawing/2014/main" id="{9E4496E3-B5B7-4CAD-E532-E39401352595}"/>
              </a:ext>
            </a:extLst>
          </p:cNvPr>
          <p:cNvSpPr txBox="1"/>
          <p:nvPr/>
        </p:nvSpPr>
        <p:spPr>
          <a:xfrm>
            <a:off x="4283964" y="3992388"/>
            <a:ext cx="517356" cy="350865"/>
          </a:xfrm>
          <a:prstGeom prst="rect">
            <a:avLst/>
          </a:prstGeom>
          <a:noFill/>
        </p:spPr>
        <p:txBody>
          <a:bodyPr wrap="square" tIns="27432" rtlCol="0">
            <a:spAutoFit/>
          </a:bodyPr>
          <a:lstStyle/>
          <a:p>
            <a:r>
              <a:rPr lang="en-US" b="1" noProof="1">
                <a:solidFill>
                  <a:schemeClr val="accent1"/>
                </a:solidFill>
              </a:rPr>
              <a:t>02</a:t>
            </a:r>
          </a:p>
        </p:txBody>
      </p:sp>
    </p:spTree>
    <p:extLst>
      <p:ext uri="{BB962C8B-B14F-4D97-AF65-F5344CB8AC3E}">
        <p14:creationId xmlns:p14="http://schemas.microsoft.com/office/powerpoint/2010/main" val="1260581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869BE325-933C-3458-A19B-53CD410CACCF}"/>
              </a:ext>
            </a:extLst>
          </p:cNvPr>
          <p:cNvSpPr>
            <a:spLocks noGrp="1"/>
          </p:cNvSpPr>
          <p:nvPr>
            <p:ph type="title"/>
            <p:custDataLst>
              <p:tags r:id="rId1"/>
            </p:custDataLst>
          </p:nvPr>
        </p:nvSpPr>
        <p:spPr>
          <a:xfrm>
            <a:off x="419100" y="629392"/>
            <a:ext cx="11353800" cy="627908"/>
          </a:xfrm>
        </p:spPr>
        <p:txBody>
          <a:bodyPr lIns="0">
            <a:normAutofit/>
          </a:bodyPr>
          <a:lstStyle/>
          <a:p>
            <a:r>
              <a:rPr lang="en-US" noProof="1"/>
              <a:t>Kết luận và hướng phát triển</a:t>
            </a:r>
          </a:p>
        </p:txBody>
      </p:sp>
      <p:sp>
        <p:nvSpPr>
          <p:cNvPr id="14" name="Content Placeholder 13">
            <a:extLst>
              <a:ext uri="{FF2B5EF4-FFF2-40B4-BE49-F238E27FC236}">
                <a16:creationId xmlns:a16="http://schemas.microsoft.com/office/drawing/2014/main" id="{AD45B313-6EE4-03CA-D638-C3B8F95A2D14}"/>
              </a:ext>
            </a:extLst>
          </p:cNvPr>
          <p:cNvSpPr>
            <a:spLocks noGrp="1"/>
          </p:cNvSpPr>
          <p:nvPr>
            <p:ph idx="4294967295"/>
            <p:custDataLst>
              <p:tags r:id="rId2"/>
            </p:custDataLst>
          </p:nvPr>
        </p:nvSpPr>
        <p:spPr>
          <a:xfrm>
            <a:off x="4229101" y="1485900"/>
            <a:ext cx="7543800" cy="1554480"/>
          </a:xfrm>
        </p:spPr>
        <p:txBody>
          <a:bodyPr vert="horz" lIns="0" tIns="45720" rIns="91440" bIns="45720" rtlCol="0">
            <a:normAutofit/>
          </a:bodyPr>
          <a:lstStyle/>
          <a:p>
            <a:pPr marL="11113" indent="0">
              <a:lnSpc>
                <a:spcPct val="114000"/>
              </a:lnSpc>
              <a:spcBef>
                <a:spcPts val="1000"/>
              </a:spcBef>
              <a:buNone/>
            </a:pPr>
            <a:r>
              <a:rPr lang="en-US" noProof="1"/>
              <a:t>Mô hình hồi quy tuyến tính đã nắm bắt được xu hướng tăng tiêu thụ điện vào mùa nóng, giúp dự báo lượng điện tiêu thụ và chi phí tương đối chính xác cho 3 tháng tới.</a:t>
            </a:r>
          </a:p>
        </p:txBody>
      </p:sp>
      <p:sp>
        <p:nvSpPr>
          <p:cNvPr id="15" name="Content Placeholder 14">
            <a:extLst>
              <a:ext uri="{FF2B5EF4-FFF2-40B4-BE49-F238E27FC236}">
                <a16:creationId xmlns:a16="http://schemas.microsoft.com/office/drawing/2014/main" id="{05929C91-B36F-6FCF-5848-317A0DB9D616}"/>
              </a:ext>
            </a:extLst>
          </p:cNvPr>
          <p:cNvSpPr>
            <a:spLocks noGrp="1"/>
          </p:cNvSpPr>
          <p:nvPr>
            <p:ph sz="half" idx="4294967295"/>
            <p:custDataLst>
              <p:tags r:id="rId3"/>
            </p:custDataLst>
          </p:nvPr>
        </p:nvSpPr>
        <p:spPr>
          <a:xfrm>
            <a:off x="4229101" y="3166109"/>
            <a:ext cx="7543800" cy="1554480"/>
          </a:xfrm>
        </p:spPr>
        <p:txBody>
          <a:bodyPr vert="horz" lIns="0" tIns="45720" rIns="91440" bIns="45720" rtlCol="0">
            <a:normAutofit/>
          </a:bodyPr>
          <a:lstStyle/>
          <a:p>
            <a:pPr marL="11113" indent="0">
              <a:lnSpc>
                <a:spcPct val="114000"/>
              </a:lnSpc>
              <a:spcBef>
                <a:spcPts val="1000"/>
              </a:spcBef>
              <a:buNone/>
            </a:pPr>
            <a:r>
              <a:rPr lang="en-US" noProof="1"/>
              <a:t>Mô hình chưa tính đến các yếu tố đột xuất như sự thay đổi thiết bị điện trong gia đình hoặc các biến động bất thường, dẫn đến sai số dự báo trong một số trường hợp.</a:t>
            </a:r>
          </a:p>
        </p:txBody>
      </p:sp>
      <p:sp>
        <p:nvSpPr>
          <p:cNvPr id="16" name="Content Placeholder 15">
            <a:extLst>
              <a:ext uri="{FF2B5EF4-FFF2-40B4-BE49-F238E27FC236}">
                <a16:creationId xmlns:a16="http://schemas.microsoft.com/office/drawing/2014/main" id="{AD6F1865-5DAE-BFBA-2FF2-DA142B0B6BE5}"/>
              </a:ext>
            </a:extLst>
          </p:cNvPr>
          <p:cNvSpPr>
            <a:spLocks noGrp="1"/>
          </p:cNvSpPr>
          <p:nvPr>
            <p:ph sz="half" idx="4294967295"/>
            <p:custDataLst>
              <p:tags r:id="rId4"/>
            </p:custDataLst>
          </p:nvPr>
        </p:nvSpPr>
        <p:spPr>
          <a:xfrm>
            <a:off x="4229101" y="4846320"/>
            <a:ext cx="7543800" cy="1554480"/>
          </a:xfrm>
        </p:spPr>
        <p:txBody>
          <a:bodyPr vert="horz" lIns="0" tIns="45720" rIns="91440" bIns="45720" rtlCol="0">
            <a:normAutofit/>
          </a:bodyPr>
          <a:lstStyle/>
          <a:p>
            <a:pPr marL="11113" indent="0">
              <a:lnSpc>
                <a:spcPct val="114000"/>
              </a:lnSpc>
              <a:spcBef>
                <a:spcPts val="1000"/>
              </a:spcBef>
              <a:buNone/>
            </a:pPr>
            <a:r>
              <a:rPr lang="en-US" noProof="1"/>
              <a:t>Thử nghiệm các mô hình phức tạp hơn như Prophet hoặc LSTM để cải thiện độ chính xác dự báo, đồng thời mở rộng dữ liệu đầu vào với các biến số thời tiết và thói quen sử dụng điện.</a:t>
            </a:r>
          </a:p>
        </p:txBody>
      </p:sp>
      <p:sp>
        <p:nvSpPr>
          <p:cNvPr id="17" name="Text Placeholder 16">
            <a:extLst>
              <a:ext uri="{FF2B5EF4-FFF2-40B4-BE49-F238E27FC236}">
                <a16:creationId xmlns:a16="http://schemas.microsoft.com/office/drawing/2014/main" id="{69A1CEA3-2CF3-4D24-B4BF-B1E2F636D15A}"/>
              </a:ext>
            </a:extLst>
          </p:cNvPr>
          <p:cNvSpPr>
            <a:spLocks noGrp="1"/>
          </p:cNvSpPr>
          <p:nvPr>
            <p:ph type="body" idx="4294967295"/>
            <p:custDataLst>
              <p:tags r:id="rId5"/>
            </p:custDataLst>
          </p:nvPr>
        </p:nvSpPr>
        <p:spPr>
          <a:xfrm>
            <a:off x="419100" y="1485900"/>
            <a:ext cx="3581400" cy="1554480"/>
          </a:xfrm>
        </p:spPr>
        <p:txBody>
          <a:bodyPr vert="horz" lIns="0" tIns="45720" rIns="91440" bIns="45720" rtlCol="0" anchor="t">
            <a:normAutofit/>
          </a:bodyPr>
          <a:lstStyle/>
          <a:p>
            <a:pPr marL="0" indent="0">
              <a:lnSpc>
                <a:spcPct val="100000"/>
              </a:lnSpc>
              <a:spcBef>
                <a:spcPts val="1000"/>
              </a:spcBef>
              <a:buNone/>
            </a:pPr>
            <a:r>
              <a:rPr lang="en-US" sz="1800" b="1" noProof="1">
                <a:solidFill>
                  <a:schemeClr val="accent1"/>
                </a:solidFill>
                <a:latin typeface="+mj-lt"/>
              </a:rPr>
              <a:t>Kết quả chính</a:t>
            </a:r>
          </a:p>
        </p:txBody>
      </p:sp>
      <p:sp>
        <p:nvSpPr>
          <p:cNvPr id="18" name="Text Placeholder 17">
            <a:extLst>
              <a:ext uri="{FF2B5EF4-FFF2-40B4-BE49-F238E27FC236}">
                <a16:creationId xmlns:a16="http://schemas.microsoft.com/office/drawing/2014/main" id="{83280D2F-42F4-D89C-6C98-5D8143BE9670}"/>
              </a:ext>
            </a:extLst>
          </p:cNvPr>
          <p:cNvSpPr>
            <a:spLocks noGrp="1"/>
          </p:cNvSpPr>
          <p:nvPr>
            <p:ph type="body" idx="4294967295"/>
            <p:custDataLst>
              <p:tags r:id="rId6"/>
            </p:custDataLst>
          </p:nvPr>
        </p:nvSpPr>
        <p:spPr>
          <a:xfrm>
            <a:off x="419100" y="3166110"/>
            <a:ext cx="3581400" cy="1554480"/>
          </a:xfrm>
        </p:spPr>
        <p:txBody>
          <a:bodyPr vert="horz" lIns="0" tIns="45720" rIns="91440" bIns="45720" rtlCol="0" anchor="t">
            <a:normAutofit/>
          </a:bodyPr>
          <a:lstStyle/>
          <a:p>
            <a:pPr marL="0" indent="0">
              <a:lnSpc>
                <a:spcPct val="100000"/>
              </a:lnSpc>
              <a:spcBef>
                <a:spcPts val="1000"/>
              </a:spcBef>
              <a:buNone/>
            </a:pPr>
            <a:r>
              <a:rPr lang="en-US" sz="1800" b="1" noProof="1">
                <a:solidFill>
                  <a:schemeClr val="accent1"/>
                </a:solidFill>
                <a:latin typeface="+mj-lt"/>
              </a:rPr>
              <a:t>Hạn chế hiện tại</a:t>
            </a:r>
          </a:p>
        </p:txBody>
      </p:sp>
      <p:sp>
        <p:nvSpPr>
          <p:cNvPr id="19" name="Text Placeholder 18">
            <a:extLst>
              <a:ext uri="{FF2B5EF4-FFF2-40B4-BE49-F238E27FC236}">
                <a16:creationId xmlns:a16="http://schemas.microsoft.com/office/drawing/2014/main" id="{4C7D026A-729A-0BDC-C780-6B555ADADDD2}"/>
              </a:ext>
            </a:extLst>
          </p:cNvPr>
          <p:cNvSpPr>
            <a:spLocks noGrp="1"/>
          </p:cNvSpPr>
          <p:nvPr>
            <p:ph type="body" idx="4294967295"/>
            <p:custDataLst>
              <p:tags r:id="rId7"/>
            </p:custDataLst>
          </p:nvPr>
        </p:nvSpPr>
        <p:spPr>
          <a:xfrm>
            <a:off x="419100" y="4846320"/>
            <a:ext cx="3581400" cy="1554480"/>
          </a:xfrm>
        </p:spPr>
        <p:txBody>
          <a:bodyPr vert="horz" lIns="0" tIns="45720" rIns="91440" bIns="45720" rtlCol="0" anchor="t">
            <a:normAutofit/>
          </a:bodyPr>
          <a:lstStyle/>
          <a:p>
            <a:pPr marL="0" indent="0">
              <a:lnSpc>
                <a:spcPct val="100000"/>
              </a:lnSpc>
              <a:spcBef>
                <a:spcPts val="1000"/>
              </a:spcBef>
              <a:buNone/>
            </a:pPr>
            <a:r>
              <a:rPr lang="en-US" sz="1800" b="1" noProof="1">
                <a:solidFill>
                  <a:schemeClr val="accent1"/>
                </a:solidFill>
                <a:latin typeface="+mj-lt"/>
              </a:rPr>
              <a:t>Hướng phát triển tương lai</a:t>
            </a:r>
          </a:p>
        </p:txBody>
      </p:sp>
      <p:sp>
        <p:nvSpPr>
          <p:cNvPr id="5" name="Rectangle 4">
            <a:extLst>
              <a:ext uri="{FF2B5EF4-FFF2-40B4-BE49-F238E27FC236}">
                <a16:creationId xmlns:a16="http://schemas.microsoft.com/office/drawing/2014/main" id="{983B11A0-8C64-DD71-D859-707465C9C67E}"/>
              </a:ext>
            </a:extLst>
          </p:cNvPr>
          <p:cNvSpPr/>
          <p:nvPr>
            <p:custDataLst>
              <p:tags r:id="rId8"/>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Tree>
    <p:extLst>
      <p:ext uri="{BB962C8B-B14F-4D97-AF65-F5344CB8AC3E}">
        <p14:creationId xmlns:p14="http://schemas.microsoft.com/office/powerpoint/2010/main" val="22793439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2.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3.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logo"/>
</p:tagLst>
</file>

<file path=ppt/tags/tag5.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6.xml><?xml version="1.0" encoding="utf-8"?>
<p:tagLst xmlns:a="http://schemas.openxmlformats.org/drawingml/2006/main" xmlns:r="http://schemas.openxmlformats.org/officeDocument/2006/relationships" xmlns:p="http://schemas.openxmlformats.org/presentationml/2006/main">
  <p:tag name="PLUS_ID" val="title_static"/>
</p:tagLst>
</file>

<file path=ppt/tags/tag7.xml><?xml version="1.0" encoding="utf-8"?>
<p:tagLst xmlns:a="http://schemas.openxmlformats.org/drawingml/2006/main" xmlns:r="http://schemas.openxmlformats.org/officeDocument/2006/relationships" xmlns:p="http://schemas.openxmlformats.org/presentationml/2006/main">
  <p:tag name="PLUS_ID" val="agenda"/>
  <p:tag name="PLUS_THEME" val="font_0"/>
</p:tagLst>
</file>

<file path=ppt/tags/tag8.xml><?xml version="1.0" encoding="utf-8"?>
<p:tagLst xmlns:a="http://schemas.openxmlformats.org/drawingml/2006/main" xmlns:r="http://schemas.openxmlformats.org/officeDocument/2006/relationships" xmlns:p="http://schemas.openxmlformats.org/presentationml/2006/main">
  <p:tag name="PLUS_ID" val="logo"/>
</p:tagLst>
</file>

<file path=ppt/tags/tag9.xml><?xml version="1.0" encoding="utf-8"?>
<p:tagLst xmlns:a="http://schemas.openxmlformats.org/drawingml/2006/main" xmlns:r="http://schemas.openxmlformats.org/officeDocument/2006/relationships" xmlns:p="http://schemas.openxmlformats.org/presentationml/2006/main">
  <p:tag name="PLUS_ID" val="title"/>
</p:tagLst>
</file>

<file path=ppt/tags/tag10.xml><?xml version="1.0" encoding="utf-8"?>
<p:tagLst xmlns:a="http://schemas.openxmlformats.org/drawingml/2006/main" xmlns:r="http://schemas.openxmlformats.org/officeDocument/2006/relationships" xmlns:p="http://schemas.openxmlformats.org/presentationml/2006/main">
  <p:tag name="PLUS_ID" val="detail_0"/>
</p:tagLst>
</file>

<file path=ppt/tags/tag11.xml><?xml version="1.0" encoding="utf-8"?>
<p:tagLst xmlns:a="http://schemas.openxmlformats.org/drawingml/2006/main" xmlns:r="http://schemas.openxmlformats.org/officeDocument/2006/relationships" xmlns:p="http://schemas.openxmlformats.org/presentationml/2006/main">
  <p:tag name="PLUS_ID" val="detail_1"/>
</p:tagLst>
</file>

<file path=ppt/tags/tag12.xml><?xml version="1.0" encoding="utf-8"?>
<p:tagLst xmlns:a="http://schemas.openxmlformats.org/drawingml/2006/main" xmlns:r="http://schemas.openxmlformats.org/officeDocument/2006/relationships" xmlns:p="http://schemas.openxmlformats.org/presentationml/2006/main">
  <p:tag name="PLUS_ID" val="detail_2"/>
</p:tagLst>
</file>

<file path=ppt/tags/tag13.xml><?xml version="1.0" encoding="utf-8"?>
<p:tagLst xmlns:a="http://schemas.openxmlformats.org/drawingml/2006/main" xmlns:r="http://schemas.openxmlformats.org/officeDocument/2006/relationships" xmlns:p="http://schemas.openxmlformats.org/presentationml/2006/main">
  <p:tag name="PLUS_ID" val="header_0"/>
</p:tagLst>
</file>

<file path=ppt/tags/tag14.xml><?xml version="1.0" encoding="utf-8"?>
<p:tagLst xmlns:a="http://schemas.openxmlformats.org/drawingml/2006/main" xmlns:r="http://schemas.openxmlformats.org/officeDocument/2006/relationships" xmlns:p="http://schemas.openxmlformats.org/presentationml/2006/main">
  <p:tag name="PLUS_ID" val="header_1"/>
</p:tagLst>
</file>

<file path=ppt/tags/tag15.xml><?xml version="1.0" encoding="utf-8"?>
<p:tagLst xmlns:a="http://schemas.openxmlformats.org/drawingml/2006/main" xmlns:r="http://schemas.openxmlformats.org/officeDocument/2006/relationships" xmlns:p="http://schemas.openxmlformats.org/presentationml/2006/main">
  <p:tag name="PLUS_ID" val="header_2"/>
</p:tagLst>
</file>

<file path=ppt/tags/tag16.xml><?xml version="1.0" encoding="utf-8"?>
<p:tagLst xmlns:a="http://schemas.openxmlformats.org/drawingml/2006/main" xmlns:r="http://schemas.openxmlformats.org/officeDocument/2006/relationships" xmlns:p="http://schemas.openxmlformats.org/presentationml/2006/main">
  <p:tag name="PLUS_ID" val="logo"/>
</p:tagLst>
</file>

<file path=ppt/tags/tag17.xml><?xml version="1.0" encoding="utf-8"?>
<p:tagLst xmlns:a="http://schemas.openxmlformats.org/drawingml/2006/main" xmlns:r="http://schemas.openxmlformats.org/officeDocument/2006/relationships" xmlns:p="http://schemas.openxmlformats.org/presentationml/2006/main">
  <p:tag name="PLUS_ID" val="icon_0"/>
</p:tagLst>
</file>

<file path=ppt/tags/tag18.xml><?xml version="1.0" encoding="utf-8"?>
<p:tagLst xmlns:a="http://schemas.openxmlformats.org/drawingml/2006/main" xmlns:r="http://schemas.openxmlformats.org/officeDocument/2006/relationships" xmlns:p="http://schemas.openxmlformats.org/presentationml/2006/main">
  <p:tag name="PLUS_ID" val="icon_1"/>
</p:tagLst>
</file>

<file path=ppt/tags/tag19.xml><?xml version="1.0" encoding="utf-8"?>
<p:tagLst xmlns:a="http://schemas.openxmlformats.org/drawingml/2006/main" xmlns:r="http://schemas.openxmlformats.org/officeDocument/2006/relationships" xmlns:p="http://schemas.openxmlformats.org/presentationml/2006/main">
  <p:tag name="PLUS_ID" val="icon_2"/>
</p:tagLst>
</file>

<file path=ppt/tags/tag20.xml><?xml version="1.0" encoding="utf-8"?>
<p:tagLst xmlns:a="http://schemas.openxmlformats.org/drawingml/2006/main" xmlns:r="http://schemas.openxmlformats.org/officeDocument/2006/relationships" xmlns:p="http://schemas.openxmlformats.org/presentationml/2006/main">
  <p:tag name="PLUS_ID" val="title"/>
</p:tagLst>
</file>

<file path=ppt/tags/tag21.xml><?xml version="1.0" encoding="utf-8"?>
<p:tagLst xmlns:a="http://schemas.openxmlformats.org/drawingml/2006/main" xmlns:r="http://schemas.openxmlformats.org/officeDocument/2006/relationships" xmlns:p="http://schemas.openxmlformats.org/presentationml/2006/main">
  <p:tag name="PLUS_ID" val="logo"/>
</p:tagLst>
</file>

<file path=ppt/tags/tag22.xml><?xml version="1.0" encoding="utf-8"?>
<p:tagLst xmlns:a="http://schemas.openxmlformats.org/drawingml/2006/main" xmlns:r="http://schemas.openxmlformats.org/officeDocument/2006/relationships" xmlns:p="http://schemas.openxmlformats.org/presentationml/2006/main">
  <p:tag name="PLUS_ID" val="detail_0"/>
</p:tagLst>
</file>

<file path=ppt/tags/tag23.xml><?xml version="1.0" encoding="utf-8"?>
<p:tagLst xmlns:a="http://schemas.openxmlformats.org/drawingml/2006/main" xmlns:r="http://schemas.openxmlformats.org/officeDocument/2006/relationships" xmlns:p="http://schemas.openxmlformats.org/presentationml/2006/main">
  <p:tag name="PLUS_ID" val="detail_1"/>
</p:tagLst>
</file>

<file path=ppt/tags/tag24.xml><?xml version="1.0" encoding="utf-8"?>
<p:tagLst xmlns:a="http://schemas.openxmlformats.org/drawingml/2006/main" xmlns:r="http://schemas.openxmlformats.org/officeDocument/2006/relationships" xmlns:p="http://schemas.openxmlformats.org/presentationml/2006/main">
  <p:tag name="PLUS_ID" val="detail_2"/>
</p:tagLst>
</file>

<file path=ppt/tags/tag25.xml><?xml version="1.0" encoding="utf-8"?>
<p:tagLst xmlns:a="http://schemas.openxmlformats.org/drawingml/2006/main" xmlns:r="http://schemas.openxmlformats.org/officeDocument/2006/relationships" xmlns:p="http://schemas.openxmlformats.org/presentationml/2006/main">
  <p:tag name="PLUS_ID" val="header_0"/>
</p:tagLst>
</file>

<file path=ppt/tags/tag26.xml><?xml version="1.0" encoding="utf-8"?>
<p:tagLst xmlns:a="http://schemas.openxmlformats.org/drawingml/2006/main" xmlns:r="http://schemas.openxmlformats.org/officeDocument/2006/relationships" xmlns:p="http://schemas.openxmlformats.org/presentationml/2006/main">
  <p:tag name="PLUS_ID" val="header_1"/>
</p:tagLst>
</file>

<file path=ppt/tags/tag27.xml><?xml version="1.0" encoding="utf-8"?>
<p:tagLst xmlns:a="http://schemas.openxmlformats.org/drawingml/2006/main" xmlns:r="http://schemas.openxmlformats.org/officeDocument/2006/relationships" xmlns:p="http://schemas.openxmlformats.org/presentationml/2006/main">
  <p:tag name="PLUS_ID" val="header_2"/>
</p:tagLst>
</file>

<file path=ppt/tags/tag28.xml><?xml version="1.0" encoding="utf-8"?>
<p:tagLst xmlns:a="http://schemas.openxmlformats.org/drawingml/2006/main" xmlns:r="http://schemas.openxmlformats.org/officeDocument/2006/relationships" xmlns:p="http://schemas.openxmlformats.org/presentationml/2006/main">
  <p:tag name="PLUS_ID" val="title"/>
</p:tagLst>
</file>

<file path=ppt/tags/tag29.xml><?xml version="1.0" encoding="utf-8"?>
<p:tagLst xmlns:a="http://schemas.openxmlformats.org/drawingml/2006/main" xmlns:r="http://schemas.openxmlformats.org/officeDocument/2006/relationships" xmlns:p="http://schemas.openxmlformats.org/presentationml/2006/main">
  <p:tag name="PLUS_ID" val="detail_0"/>
</p:tagLst>
</file>

<file path=ppt/tags/tag30.xml><?xml version="1.0" encoding="utf-8"?>
<p:tagLst xmlns:a="http://schemas.openxmlformats.org/drawingml/2006/main" xmlns:r="http://schemas.openxmlformats.org/officeDocument/2006/relationships" xmlns:p="http://schemas.openxmlformats.org/presentationml/2006/main">
  <p:tag name="PLUS_ID" val="detail_1"/>
</p:tagLst>
</file>

<file path=ppt/tags/tag31.xml><?xml version="1.0" encoding="utf-8"?>
<p:tagLst xmlns:a="http://schemas.openxmlformats.org/drawingml/2006/main" xmlns:r="http://schemas.openxmlformats.org/officeDocument/2006/relationships" xmlns:p="http://schemas.openxmlformats.org/presentationml/2006/main">
  <p:tag name="PLUS_ID" val="detail_2"/>
</p:tagLst>
</file>

<file path=ppt/tags/tag32.xml><?xml version="1.0" encoding="utf-8"?>
<p:tagLst xmlns:a="http://schemas.openxmlformats.org/drawingml/2006/main" xmlns:r="http://schemas.openxmlformats.org/officeDocument/2006/relationships" xmlns:p="http://schemas.openxmlformats.org/presentationml/2006/main">
  <p:tag name="PLUS_ID" val="header_0"/>
</p:tagLst>
</file>

<file path=ppt/tags/tag33.xml><?xml version="1.0" encoding="utf-8"?>
<p:tagLst xmlns:a="http://schemas.openxmlformats.org/drawingml/2006/main" xmlns:r="http://schemas.openxmlformats.org/officeDocument/2006/relationships" xmlns:p="http://schemas.openxmlformats.org/presentationml/2006/main">
  <p:tag name="PLUS_ID" val="header_1"/>
</p:tagLst>
</file>

<file path=ppt/tags/tag34.xml><?xml version="1.0" encoding="utf-8"?>
<p:tagLst xmlns:a="http://schemas.openxmlformats.org/drawingml/2006/main" xmlns:r="http://schemas.openxmlformats.org/officeDocument/2006/relationships" xmlns:p="http://schemas.openxmlformats.org/presentationml/2006/main">
  <p:tag name="PLUS_ID" val="header_2"/>
</p:tagLst>
</file>

<file path=ppt/tags/tag35.xml><?xml version="1.0" encoding="utf-8"?>
<p:tagLst xmlns:a="http://schemas.openxmlformats.org/drawingml/2006/main" xmlns:r="http://schemas.openxmlformats.org/officeDocument/2006/relationships" xmlns:p="http://schemas.openxmlformats.org/presentationml/2006/main">
  <p:tag name="PLUS_ID" val="logo"/>
</p:tagLst>
</file>

<file path=ppt/tags/tag36.xml><?xml version="1.0" encoding="utf-8"?>
<p:tagLst xmlns:a="http://schemas.openxmlformats.org/drawingml/2006/main" xmlns:r="http://schemas.openxmlformats.org/officeDocument/2006/relationships" xmlns:p="http://schemas.openxmlformats.org/presentationml/2006/main">
  <p:tag name="PLUS_THEME" val="background_0"/>
  <p:tag name="PLUS_SLIDE_ID" val="Jchwq2rEU1uoIdLXbh1mgD"/>
  <p:tag name="PLUS_SLIDE_PPT_ID" val="541#3025044421"/>
</p:tagLst>
</file>

<file path=ppt/tags/tag37.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38.xml><?xml version="1.0" encoding="utf-8"?>
<p:tagLst xmlns:a="http://schemas.openxmlformats.org/drawingml/2006/main" xmlns:r="http://schemas.openxmlformats.org/officeDocument/2006/relationships" xmlns:p="http://schemas.openxmlformats.org/presentationml/2006/main">
  <p:tag name="PLUS_ID" val="bullet_points"/>
</p:tagLst>
</file>

<file path=ppt/tags/tag39.xml><?xml version="1.0" encoding="utf-8"?>
<p:tagLst xmlns:a="http://schemas.openxmlformats.org/drawingml/2006/main" xmlns:r="http://schemas.openxmlformats.org/officeDocument/2006/relationships" xmlns:p="http://schemas.openxmlformats.org/presentationml/2006/main">
  <p:tag name="PLUS_ID" val="bullets_header"/>
</p:tagLst>
</file>

<file path=ppt/tags/tag40.xml><?xml version="1.0" encoding="utf-8"?>
<p:tagLst xmlns:a="http://schemas.openxmlformats.org/drawingml/2006/main" xmlns:r="http://schemas.openxmlformats.org/officeDocument/2006/relationships" xmlns:p="http://schemas.openxmlformats.org/presentationml/2006/main">
  <p:tag name="PLUS_ID" val="takeaway"/>
</p:tagLst>
</file>

<file path=ppt/tags/tag41.xml><?xml version="1.0" encoding="utf-8"?>
<p:tagLst xmlns:a="http://schemas.openxmlformats.org/drawingml/2006/main" xmlns:r="http://schemas.openxmlformats.org/officeDocument/2006/relationships" xmlns:p="http://schemas.openxmlformats.org/presentationml/2006/main">
  <p:tag name="PLUS_ID" val="section_detail"/>
</p:tagLst>
</file>

<file path=ppt/tags/tag42.xml><?xml version="1.0" encoding="utf-8"?>
<p:tagLst xmlns:a="http://schemas.openxmlformats.org/drawingml/2006/main" xmlns:r="http://schemas.openxmlformats.org/officeDocument/2006/relationships" xmlns:p="http://schemas.openxmlformats.org/presentationml/2006/main">
  <p:tag name="PLUS_ID" val="section_header"/>
</p:tagLst>
</file>

<file path=ppt/tags/tag43.xml><?xml version="1.0" encoding="utf-8"?>
<p:tagLst xmlns:a="http://schemas.openxmlformats.org/drawingml/2006/main" xmlns:r="http://schemas.openxmlformats.org/officeDocument/2006/relationships" xmlns:p="http://schemas.openxmlformats.org/presentationml/2006/main">
  <p:tag name="PLUS_ID" val="title"/>
</p:tagLst>
</file>

<file path=ppt/tags/tag44.xml><?xml version="1.0" encoding="utf-8"?>
<p:tagLst xmlns:a="http://schemas.openxmlformats.org/drawingml/2006/main" xmlns:r="http://schemas.openxmlformats.org/officeDocument/2006/relationships" xmlns:p="http://schemas.openxmlformats.org/presentationml/2006/main">
  <p:tag name="PLUS_ID" val="header_0"/>
</p:tagLst>
</file>

<file path=ppt/tags/tag45.xml><?xml version="1.0" encoding="utf-8"?>
<p:tagLst xmlns:a="http://schemas.openxmlformats.org/drawingml/2006/main" xmlns:r="http://schemas.openxmlformats.org/officeDocument/2006/relationships" xmlns:p="http://schemas.openxmlformats.org/presentationml/2006/main">
  <p:tag name="PLUS_ID" val="detail_0"/>
</p:tagLst>
</file>

<file path=ppt/tags/tag46.xml><?xml version="1.0" encoding="utf-8"?>
<p:tagLst xmlns:a="http://schemas.openxmlformats.org/drawingml/2006/main" xmlns:r="http://schemas.openxmlformats.org/officeDocument/2006/relationships" xmlns:p="http://schemas.openxmlformats.org/presentationml/2006/main">
  <p:tag name="PLUS_ID" val="header_1"/>
</p:tagLst>
</file>

<file path=ppt/tags/tag47.xml><?xml version="1.0" encoding="utf-8"?>
<p:tagLst xmlns:a="http://schemas.openxmlformats.org/drawingml/2006/main" xmlns:r="http://schemas.openxmlformats.org/officeDocument/2006/relationships" xmlns:p="http://schemas.openxmlformats.org/presentationml/2006/main">
  <p:tag name="PLUS_ID" val="detail_1"/>
</p:tagLst>
</file>

<file path=ppt/tags/tag48.xml><?xml version="1.0" encoding="utf-8"?>
<p:tagLst xmlns:a="http://schemas.openxmlformats.org/drawingml/2006/main" xmlns:r="http://schemas.openxmlformats.org/officeDocument/2006/relationships" xmlns:p="http://schemas.openxmlformats.org/presentationml/2006/main">
  <p:tag name="PLUS_ID" val="icon_0"/>
</p:tagLst>
</file>

<file path=ppt/tags/tag49.xml><?xml version="1.0" encoding="utf-8"?>
<p:tagLst xmlns:a="http://schemas.openxmlformats.org/drawingml/2006/main" xmlns:r="http://schemas.openxmlformats.org/officeDocument/2006/relationships" xmlns:p="http://schemas.openxmlformats.org/presentationml/2006/main">
  <p:tag name="PLUS_ID" val="icon_1"/>
</p:tagLst>
</file>

<file path=ppt/tags/tag50.xml><?xml version="1.0" encoding="utf-8"?>
<p:tagLst xmlns:a="http://schemas.openxmlformats.org/drawingml/2006/main" xmlns:r="http://schemas.openxmlformats.org/officeDocument/2006/relationships" xmlns:p="http://schemas.openxmlformats.org/presentationml/2006/main">
  <p:tag name="PLUS_ID" val="logo"/>
</p:tagLst>
</file>

<file path=ppt/tags/tag51.xml><?xml version="1.0" encoding="utf-8"?>
<p:tagLst xmlns:a="http://schemas.openxmlformats.org/drawingml/2006/main" xmlns:r="http://schemas.openxmlformats.org/officeDocument/2006/relationships" xmlns:p="http://schemas.openxmlformats.org/presentationml/2006/main">
  <p:tag name="PLUS_ID" val="chapter"/>
</p:tagLst>
</file>

<file path=ppt/tags/tag52.xml><?xml version="1.0" encoding="utf-8"?>
<p:tagLst xmlns:a="http://schemas.openxmlformats.org/drawingml/2006/main" xmlns:r="http://schemas.openxmlformats.org/officeDocument/2006/relationships" xmlns:p="http://schemas.openxmlformats.org/presentationml/2006/main">
  <p:tag name="PLUS_ID" val="image_1"/>
</p:tagLst>
</file>

<file path=ppt/tags/tag53.xml><?xml version="1.0" encoding="utf-8"?>
<p:tagLst xmlns:a="http://schemas.openxmlformats.org/drawingml/2006/main" xmlns:r="http://schemas.openxmlformats.org/officeDocument/2006/relationships" xmlns:p="http://schemas.openxmlformats.org/presentationml/2006/main">
  <p:tag name="PLUS_ID" val="image_0"/>
</p:tagLst>
</file>

<file path=ppt/tags/tag54.xml><?xml version="1.0" encoding="utf-8"?>
<p:tagLst xmlns:a="http://schemas.openxmlformats.org/drawingml/2006/main" xmlns:r="http://schemas.openxmlformats.org/officeDocument/2006/relationships" xmlns:p="http://schemas.openxmlformats.org/presentationml/2006/main">
  <p:tag name="PLUS_ID" val="title"/>
</p:tagLst>
</file>

<file path=ppt/tags/tag55.xml><?xml version="1.0" encoding="utf-8"?>
<p:tagLst xmlns:a="http://schemas.openxmlformats.org/drawingml/2006/main" xmlns:r="http://schemas.openxmlformats.org/officeDocument/2006/relationships" xmlns:p="http://schemas.openxmlformats.org/presentationml/2006/main">
  <p:tag name="PLUS_ID" val="detail_0"/>
</p:tagLst>
</file>

<file path=ppt/tags/tag56.xml><?xml version="1.0" encoding="utf-8"?>
<p:tagLst xmlns:a="http://schemas.openxmlformats.org/drawingml/2006/main" xmlns:r="http://schemas.openxmlformats.org/officeDocument/2006/relationships" xmlns:p="http://schemas.openxmlformats.org/presentationml/2006/main">
  <p:tag name="PLUS_ID" val="detail_1"/>
</p:tagLst>
</file>

<file path=ppt/tags/tag57.xml><?xml version="1.0" encoding="utf-8"?>
<p:tagLst xmlns:a="http://schemas.openxmlformats.org/drawingml/2006/main" xmlns:r="http://schemas.openxmlformats.org/officeDocument/2006/relationships" xmlns:p="http://schemas.openxmlformats.org/presentationml/2006/main">
  <p:tag name="PLUS_ID" val="header_0"/>
</p:tagLst>
</file>

<file path=ppt/tags/tag58.xml><?xml version="1.0" encoding="utf-8"?>
<p:tagLst xmlns:a="http://schemas.openxmlformats.org/drawingml/2006/main" xmlns:r="http://schemas.openxmlformats.org/officeDocument/2006/relationships" xmlns:p="http://schemas.openxmlformats.org/presentationml/2006/main">
  <p:tag name="PLUS_ID" val="header_1"/>
</p:tagLst>
</file>

<file path=ppt/tags/tag59.xml><?xml version="1.0" encoding="utf-8"?>
<p:tagLst xmlns:a="http://schemas.openxmlformats.org/drawingml/2006/main" xmlns:r="http://schemas.openxmlformats.org/officeDocument/2006/relationships" xmlns:p="http://schemas.openxmlformats.org/presentationml/2006/main">
  <p:tag name="PLUS_ID" val="logo"/>
</p:tagLst>
</file>

<file path=ppt/tags/tag60.xml><?xml version="1.0" encoding="utf-8"?>
<p:tagLst xmlns:a="http://schemas.openxmlformats.org/drawingml/2006/main" xmlns:r="http://schemas.openxmlformats.org/officeDocument/2006/relationships" xmlns:p="http://schemas.openxmlformats.org/presentationml/2006/main">
  <p:tag name="PLUS_ID" val="title"/>
</p:tagLst>
</file>

<file path=ppt/tags/tag61.xml><?xml version="1.0" encoding="utf-8"?>
<p:tagLst xmlns:a="http://schemas.openxmlformats.org/drawingml/2006/main" xmlns:r="http://schemas.openxmlformats.org/officeDocument/2006/relationships" xmlns:p="http://schemas.openxmlformats.org/presentationml/2006/main">
  <p:tag name="PLUS_ID" val="detail_0"/>
</p:tagLst>
</file>

<file path=ppt/tags/tag62.xml><?xml version="1.0" encoding="utf-8"?>
<p:tagLst xmlns:a="http://schemas.openxmlformats.org/drawingml/2006/main" xmlns:r="http://schemas.openxmlformats.org/officeDocument/2006/relationships" xmlns:p="http://schemas.openxmlformats.org/presentationml/2006/main">
  <p:tag name="PLUS_ID" val="detail_1"/>
</p:tagLst>
</file>

<file path=ppt/tags/tag63.xml><?xml version="1.0" encoding="utf-8"?>
<p:tagLst xmlns:a="http://schemas.openxmlformats.org/drawingml/2006/main" xmlns:r="http://schemas.openxmlformats.org/officeDocument/2006/relationships" xmlns:p="http://schemas.openxmlformats.org/presentationml/2006/main">
  <p:tag name="PLUS_ID" val="detail_2"/>
</p:tagLst>
</file>

<file path=ppt/tags/tag64.xml><?xml version="1.0" encoding="utf-8"?>
<p:tagLst xmlns:a="http://schemas.openxmlformats.org/drawingml/2006/main" xmlns:r="http://schemas.openxmlformats.org/officeDocument/2006/relationships" xmlns:p="http://schemas.openxmlformats.org/presentationml/2006/main">
  <p:tag name="PLUS_ID" val="header_0"/>
</p:tagLst>
</file>

<file path=ppt/tags/tag65.xml><?xml version="1.0" encoding="utf-8"?>
<p:tagLst xmlns:a="http://schemas.openxmlformats.org/drawingml/2006/main" xmlns:r="http://schemas.openxmlformats.org/officeDocument/2006/relationships" xmlns:p="http://schemas.openxmlformats.org/presentationml/2006/main">
  <p:tag name="PLUS_ID" val="header_1"/>
</p:tagLst>
</file>

<file path=ppt/tags/tag66.xml><?xml version="1.0" encoding="utf-8"?>
<p:tagLst xmlns:a="http://schemas.openxmlformats.org/drawingml/2006/main" xmlns:r="http://schemas.openxmlformats.org/officeDocument/2006/relationships" xmlns:p="http://schemas.openxmlformats.org/presentationml/2006/main">
  <p:tag name="PLUS_ID" val="header_2"/>
</p:tagLst>
</file>

<file path=ppt/tags/tag67.xml><?xml version="1.0" encoding="utf-8"?>
<p:tagLst xmlns:a="http://schemas.openxmlformats.org/drawingml/2006/main" xmlns:r="http://schemas.openxmlformats.org/officeDocument/2006/relationships" xmlns:p="http://schemas.openxmlformats.org/presentationml/2006/main">
  <p:tag name="PLUS_ID" val="logo"/>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1233</Words>
  <Application>Microsoft Office PowerPoint</Application>
  <PresentationFormat>Widescreen</PresentationFormat>
  <Paragraphs>96</Paragraphs>
  <Slides>11</Slides>
  <Notes>1</Notes>
  <HiddenSlides>0</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11</vt:i4>
      </vt:variant>
    </vt:vector>
  </HeadingPairs>
  <TitlesOfParts>
    <vt:vector size="28" baseType="lpstr">
      <vt:lpstr>Aptos</vt:lpstr>
      <vt:lpstr>Aptos Display</vt:lpstr>
      <vt:lpstr>Arial</vt:lpstr>
      <vt:lpstr>Calibri</vt:lpstr>
      <vt:lpstr>Calibri Light</vt:lpstr>
      <vt:lpstr>Franklin Gothic Book</vt:lpstr>
      <vt:lpstr>Franklin Gothic Medium</vt:lpstr>
      <vt:lpstr>Office Theme</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Dự báo tiêu thụ điện năng và chi phí</vt:lpstr>
      <vt:lpstr>PowerPoint Presentation</vt:lpstr>
      <vt:lpstr>Agenda</vt:lpstr>
      <vt:lpstr>Lý do chọn đề tài</vt:lpstr>
      <vt:lpstr>Thu thập dữ liệu</vt:lpstr>
      <vt:lpstr>Tiền xử lý dữ liệu</vt:lpstr>
      <vt:lpstr>Phương pháp thực hiện</vt:lpstr>
      <vt:lpstr>Logic tính toán tiền điện EVN</vt:lpstr>
      <vt:lpstr>Giá của kWh thay đổi tùy thuộc vào mức tiêu thụ điện theo bảng dưới đây:</vt:lpstr>
      <vt:lpstr>Kết quả dự báo</vt:lpstr>
      <vt:lpstr>Kết luận và hướng phát triển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Adam Shakhabov</dc:creator>
  <cp:lastModifiedBy>Vĩ Bùi</cp:lastModifiedBy>
  <cp:revision>3</cp:revision>
  <dcterms:created xsi:type="dcterms:W3CDTF">2023-07-09T20:28:40Z</dcterms:created>
  <dcterms:modified xsi:type="dcterms:W3CDTF">2026-03-27T13:59:42Z</dcterms:modified>
</cp:coreProperties>
</file>